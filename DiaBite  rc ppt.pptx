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816F16-4990-41C5-B250-7E63685B6BE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E28CD97-808C-4E4A-AC18-0E8E652DCA32}">
      <dgm:prSet/>
      <dgm:spPr/>
      <dgm:t>
        <a:bodyPr/>
        <a:lstStyle/>
        <a:p>
          <a:pPr>
            <a:defRPr cap="all"/>
          </a:pPr>
          <a:r>
            <a:rPr lang="en-IN"/>
            <a:t>Develop a personalized food recommendation system for diabetic users.</a:t>
          </a:r>
          <a:endParaRPr lang="en-US"/>
        </a:p>
      </dgm:t>
    </dgm:pt>
    <dgm:pt modelId="{9B8222C9-EB04-4E01-996D-AEEFC2E9BA22}" type="parTrans" cxnId="{E225CBCB-A1AA-465E-96FA-389BFBCA8FB2}">
      <dgm:prSet/>
      <dgm:spPr/>
      <dgm:t>
        <a:bodyPr/>
        <a:lstStyle/>
        <a:p>
          <a:endParaRPr lang="en-US"/>
        </a:p>
      </dgm:t>
    </dgm:pt>
    <dgm:pt modelId="{4E864D76-1AD9-4542-8D44-0DB583E2A043}" type="sibTrans" cxnId="{E225CBCB-A1AA-465E-96FA-389BFBCA8FB2}">
      <dgm:prSet/>
      <dgm:spPr/>
      <dgm:t>
        <a:bodyPr/>
        <a:lstStyle/>
        <a:p>
          <a:endParaRPr lang="en-US"/>
        </a:p>
      </dgm:t>
    </dgm:pt>
    <dgm:pt modelId="{51236DE1-A406-42D5-932E-74F08992C976}">
      <dgm:prSet/>
      <dgm:spPr/>
      <dgm:t>
        <a:bodyPr/>
        <a:lstStyle/>
        <a:p>
          <a:pPr>
            <a:defRPr cap="all"/>
          </a:pPr>
          <a:r>
            <a:rPr lang="en-IN"/>
            <a:t>Evaluate meals using nutritional information and Glycemic Load.</a:t>
          </a:r>
          <a:endParaRPr lang="en-US"/>
        </a:p>
      </dgm:t>
    </dgm:pt>
    <dgm:pt modelId="{06842696-7999-4170-BD91-901E6893F03C}" type="parTrans" cxnId="{FA01C2DA-F0EB-4E3C-916F-E779E5A90C1F}">
      <dgm:prSet/>
      <dgm:spPr/>
      <dgm:t>
        <a:bodyPr/>
        <a:lstStyle/>
        <a:p>
          <a:endParaRPr lang="en-US"/>
        </a:p>
      </dgm:t>
    </dgm:pt>
    <dgm:pt modelId="{578086A9-BEC8-4095-ADAE-761C2ACFC6A6}" type="sibTrans" cxnId="{FA01C2DA-F0EB-4E3C-916F-E779E5A90C1F}">
      <dgm:prSet/>
      <dgm:spPr/>
      <dgm:t>
        <a:bodyPr/>
        <a:lstStyle/>
        <a:p>
          <a:endParaRPr lang="en-US"/>
        </a:p>
      </dgm:t>
    </dgm:pt>
    <dgm:pt modelId="{9889095F-98AD-49A0-9651-0A80B17F3D6D}">
      <dgm:prSet/>
      <dgm:spPr/>
      <dgm:t>
        <a:bodyPr/>
        <a:lstStyle/>
        <a:p>
          <a:pPr>
            <a:defRPr cap="all"/>
          </a:pPr>
          <a:r>
            <a:rPr lang="en-IN"/>
            <a:t>Filter meals that violate dietary restrictions or health constraints.</a:t>
          </a:r>
          <a:endParaRPr lang="en-US"/>
        </a:p>
      </dgm:t>
    </dgm:pt>
    <dgm:pt modelId="{7183E5C3-5FCC-4B5F-B17A-515B07CC9856}" type="parTrans" cxnId="{4B07FDB4-0074-46CD-A7D9-E8B39AEC069E}">
      <dgm:prSet/>
      <dgm:spPr/>
      <dgm:t>
        <a:bodyPr/>
        <a:lstStyle/>
        <a:p>
          <a:endParaRPr lang="en-US"/>
        </a:p>
      </dgm:t>
    </dgm:pt>
    <dgm:pt modelId="{6B05C8ED-6D04-402A-8D21-E5B91631AD30}" type="sibTrans" cxnId="{4B07FDB4-0074-46CD-A7D9-E8B39AEC069E}">
      <dgm:prSet/>
      <dgm:spPr/>
      <dgm:t>
        <a:bodyPr/>
        <a:lstStyle/>
        <a:p>
          <a:endParaRPr lang="en-US"/>
        </a:p>
      </dgm:t>
    </dgm:pt>
    <dgm:pt modelId="{58970695-65CD-4B96-8AF0-2349EE49AD72}">
      <dgm:prSet/>
      <dgm:spPr/>
      <dgm:t>
        <a:bodyPr/>
        <a:lstStyle/>
        <a:p>
          <a:pPr>
            <a:defRPr cap="all"/>
          </a:pPr>
          <a:r>
            <a:rPr lang="en-IN"/>
            <a:t>Rank suitable meals using Multi-Criteria Decision Making (MCDM).</a:t>
          </a:r>
          <a:endParaRPr lang="en-US"/>
        </a:p>
      </dgm:t>
    </dgm:pt>
    <dgm:pt modelId="{27F4DA7B-CA01-4122-A491-3947138B8F8C}" type="parTrans" cxnId="{EEA08E94-47B2-488A-9E4E-12313F07DBB0}">
      <dgm:prSet/>
      <dgm:spPr/>
      <dgm:t>
        <a:bodyPr/>
        <a:lstStyle/>
        <a:p>
          <a:endParaRPr lang="en-US"/>
        </a:p>
      </dgm:t>
    </dgm:pt>
    <dgm:pt modelId="{5AE87473-6CAA-4014-AA2F-596C51E0B4F4}" type="sibTrans" cxnId="{EEA08E94-47B2-488A-9E4E-12313F07DBB0}">
      <dgm:prSet/>
      <dgm:spPr/>
      <dgm:t>
        <a:bodyPr/>
        <a:lstStyle/>
        <a:p>
          <a:endParaRPr lang="en-US"/>
        </a:p>
      </dgm:t>
    </dgm:pt>
    <dgm:pt modelId="{9F02F1AB-B697-49B7-9787-C5F5E0BF09CB}">
      <dgm:prSet/>
      <dgm:spPr/>
      <dgm:t>
        <a:bodyPr/>
        <a:lstStyle/>
        <a:p>
          <a:pPr>
            <a:defRPr cap="all"/>
          </a:pPr>
          <a:r>
            <a:rPr lang="en-IN"/>
            <a:t>Provide explainable recommendations and diabetic-friendly ordering instructions.</a:t>
          </a:r>
          <a:endParaRPr lang="en-US"/>
        </a:p>
      </dgm:t>
    </dgm:pt>
    <dgm:pt modelId="{6FF7AAD5-A8A9-4B6E-AF04-46B2D99057DE}" type="parTrans" cxnId="{32D4819F-25DB-467F-9E86-EB6611F12E35}">
      <dgm:prSet/>
      <dgm:spPr/>
      <dgm:t>
        <a:bodyPr/>
        <a:lstStyle/>
        <a:p>
          <a:endParaRPr lang="en-US"/>
        </a:p>
      </dgm:t>
    </dgm:pt>
    <dgm:pt modelId="{E86C0037-18A8-40EA-92D3-4C3D4BFECD34}" type="sibTrans" cxnId="{32D4819F-25DB-467F-9E86-EB6611F12E35}">
      <dgm:prSet/>
      <dgm:spPr/>
      <dgm:t>
        <a:bodyPr/>
        <a:lstStyle/>
        <a:p>
          <a:endParaRPr lang="en-US"/>
        </a:p>
      </dgm:t>
    </dgm:pt>
    <dgm:pt modelId="{AD1E2E35-4C24-4399-A538-C88DADBFFA54}">
      <dgm:prSet/>
      <dgm:spPr/>
      <dgm:t>
        <a:bodyPr/>
        <a:lstStyle/>
        <a:p>
          <a:pPr>
            <a:defRPr cap="all"/>
          </a:pPr>
          <a:r>
            <a:rPr lang="en-IN"/>
            <a:t>Use post-meal glucose feedback as a basis for future personalization.</a:t>
          </a:r>
          <a:endParaRPr lang="en-US"/>
        </a:p>
      </dgm:t>
    </dgm:pt>
    <dgm:pt modelId="{9E21553C-DD85-4805-8015-A0639CD3560D}" type="parTrans" cxnId="{1E25AC7A-153A-4CF4-9614-0287EAA6EBA9}">
      <dgm:prSet/>
      <dgm:spPr/>
      <dgm:t>
        <a:bodyPr/>
        <a:lstStyle/>
        <a:p>
          <a:endParaRPr lang="en-US"/>
        </a:p>
      </dgm:t>
    </dgm:pt>
    <dgm:pt modelId="{D1A654E4-01E2-4BC5-AA9A-4BE7F872405C}" type="sibTrans" cxnId="{1E25AC7A-153A-4CF4-9614-0287EAA6EBA9}">
      <dgm:prSet/>
      <dgm:spPr/>
      <dgm:t>
        <a:bodyPr/>
        <a:lstStyle/>
        <a:p>
          <a:endParaRPr lang="en-US"/>
        </a:p>
      </dgm:t>
    </dgm:pt>
    <dgm:pt modelId="{D187B121-3BFE-4575-81C3-ECC1C4F45A97}" type="pres">
      <dgm:prSet presAssocID="{BC816F16-4990-41C5-B250-7E63685B6BE7}" presName="root" presStyleCnt="0">
        <dgm:presLayoutVars>
          <dgm:dir/>
          <dgm:resizeHandles val="exact"/>
        </dgm:presLayoutVars>
      </dgm:prSet>
      <dgm:spPr/>
    </dgm:pt>
    <dgm:pt modelId="{CF9FBB0D-9F33-4011-8DD7-6C4FFCA2ED1D}" type="pres">
      <dgm:prSet presAssocID="{6E28CD97-808C-4E4A-AC18-0E8E652DCA32}" presName="compNode" presStyleCnt="0"/>
      <dgm:spPr/>
    </dgm:pt>
    <dgm:pt modelId="{3BF37B23-2D67-4B25-B9D5-2F50986D232E}" type="pres">
      <dgm:prSet presAssocID="{6E28CD97-808C-4E4A-AC18-0E8E652DCA32}" presName="iconBgRect" presStyleLbl="bgShp" presStyleIdx="0" presStyleCnt="6"/>
      <dgm:spPr/>
    </dgm:pt>
    <dgm:pt modelId="{2FC2B831-B7A5-49F5-B830-DCC03CEB013A}" type="pres">
      <dgm:prSet presAssocID="{6E28CD97-808C-4E4A-AC18-0E8E652DCA32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52DC8339-B178-4C00-B84A-98D46F491B52}" type="pres">
      <dgm:prSet presAssocID="{6E28CD97-808C-4E4A-AC18-0E8E652DCA32}" presName="spaceRect" presStyleCnt="0"/>
      <dgm:spPr/>
    </dgm:pt>
    <dgm:pt modelId="{C0CC3F49-03C5-448A-9355-5942E45D4F93}" type="pres">
      <dgm:prSet presAssocID="{6E28CD97-808C-4E4A-AC18-0E8E652DCA32}" presName="textRect" presStyleLbl="revTx" presStyleIdx="0" presStyleCnt="6">
        <dgm:presLayoutVars>
          <dgm:chMax val="1"/>
          <dgm:chPref val="1"/>
        </dgm:presLayoutVars>
      </dgm:prSet>
      <dgm:spPr/>
    </dgm:pt>
    <dgm:pt modelId="{0E328E54-6B7E-4175-B772-FA34E33F9D9F}" type="pres">
      <dgm:prSet presAssocID="{4E864D76-1AD9-4542-8D44-0DB583E2A043}" presName="sibTrans" presStyleCnt="0"/>
      <dgm:spPr/>
    </dgm:pt>
    <dgm:pt modelId="{F486ADDD-2746-48D4-AA22-69F3BDD5164C}" type="pres">
      <dgm:prSet presAssocID="{51236DE1-A406-42D5-932E-74F08992C976}" presName="compNode" presStyleCnt="0"/>
      <dgm:spPr/>
    </dgm:pt>
    <dgm:pt modelId="{F451D1A0-2A34-4787-BEAE-07952FC6692E}" type="pres">
      <dgm:prSet presAssocID="{51236DE1-A406-42D5-932E-74F08992C976}" presName="iconBgRect" presStyleLbl="bgShp" presStyleIdx="1" presStyleCnt="6"/>
      <dgm:spPr/>
    </dgm:pt>
    <dgm:pt modelId="{0B331612-8FB0-4588-8237-589641F9E848}" type="pres">
      <dgm:prSet presAssocID="{51236DE1-A406-42D5-932E-74F08992C976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Eating"/>
        </a:ext>
      </dgm:extLst>
    </dgm:pt>
    <dgm:pt modelId="{7C85E4D7-D51E-4D75-8913-F7DD49055823}" type="pres">
      <dgm:prSet presAssocID="{51236DE1-A406-42D5-932E-74F08992C976}" presName="spaceRect" presStyleCnt="0"/>
      <dgm:spPr/>
    </dgm:pt>
    <dgm:pt modelId="{D4022F9B-B871-4501-BA14-C22779032818}" type="pres">
      <dgm:prSet presAssocID="{51236DE1-A406-42D5-932E-74F08992C976}" presName="textRect" presStyleLbl="revTx" presStyleIdx="1" presStyleCnt="6">
        <dgm:presLayoutVars>
          <dgm:chMax val="1"/>
          <dgm:chPref val="1"/>
        </dgm:presLayoutVars>
      </dgm:prSet>
      <dgm:spPr/>
    </dgm:pt>
    <dgm:pt modelId="{9F530545-BECE-4696-84C2-6658E3C1727F}" type="pres">
      <dgm:prSet presAssocID="{578086A9-BEC8-4095-ADAE-761C2ACFC6A6}" presName="sibTrans" presStyleCnt="0"/>
      <dgm:spPr/>
    </dgm:pt>
    <dgm:pt modelId="{9E1793C3-0249-4555-A5B1-29B55CDEB606}" type="pres">
      <dgm:prSet presAssocID="{9889095F-98AD-49A0-9651-0A80B17F3D6D}" presName="compNode" presStyleCnt="0"/>
      <dgm:spPr/>
    </dgm:pt>
    <dgm:pt modelId="{C603759A-1806-4F80-8232-2B12FB63853E}" type="pres">
      <dgm:prSet presAssocID="{9889095F-98AD-49A0-9651-0A80B17F3D6D}" presName="iconBgRect" presStyleLbl="bgShp" presStyleIdx="2" presStyleCnt="6"/>
      <dgm:spPr/>
    </dgm:pt>
    <dgm:pt modelId="{9AEB1B21-F978-47DE-A2A7-8D817A0CA6DF}" type="pres">
      <dgm:prSet presAssocID="{9889095F-98AD-49A0-9651-0A80B17F3D6D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635FA745-DD4B-480E-AE6C-6D3CE9D7720F}" type="pres">
      <dgm:prSet presAssocID="{9889095F-98AD-49A0-9651-0A80B17F3D6D}" presName="spaceRect" presStyleCnt="0"/>
      <dgm:spPr/>
    </dgm:pt>
    <dgm:pt modelId="{BB967F8A-D8D5-4B72-BB17-FCBAAF1989CC}" type="pres">
      <dgm:prSet presAssocID="{9889095F-98AD-49A0-9651-0A80B17F3D6D}" presName="textRect" presStyleLbl="revTx" presStyleIdx="2" presStyleCnt="6">
        <dgm:presLayoutVars>
          <dgm:chMax val="1"/>
          <dgm:chPref val="1"/>
        </dgm:presLayoutVars>
      </dgm:prSet>
      <dgm:spPr/>
    </dgm:pt>
    <dgm:pt modelId="{E14D136B-595A-4FA7-93A0-AA95B2AC34F0}" type="pres">
      <dgm:prSet presAssocID="{6B05C8ED-6D04-402A-8D21-E5B91631AD30}" presName="sibTrans" presStyleCnt="0"/>
      <dgm:spPr/>
    </dgm:pt>
    <dgm:pt modelId="{24E0FEE7-791B-4A86-90FA-E07376C14C5B}" type="pres">
      <dgm:prSet presAssocID="{58970695-65CD-4B96-8AF0-2349EE49AD72}" presName="compNode" presStyleCnt="0"/>
      <dgm:spPr/>
    </dgm:pt>
    <dgm:pt modelId="{F853AA77-E158-4727-A69D-ED0A191528B1}" type="pres">
      <dgm:prSet presAssocID="{58970695-65CD-4B96-8AF0-2349EE49AD72}" presName="iconBgRect" presStyleLbl="bgShp" presStyleIdx="3" presStyleCnt="6"/>
      <dgm:spPr/>
    </dgm:pt>
    <dgm:pt modelId="{C9FCDEA1-B40C-4E7B-9662-F0B6B8A69F6B}" type="pres">
      <dgm:prSet presAssocID="{58970695-65CD-4B96-8AF0-2349EE49AD7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DE1FE8F5-0652-4A78-BB47-E3BF1B27DB13}" type="pres">
      <dgm:prSet presAssocID="{58970695-65CD-4B96-8AF0-2349EE49AD72}" presName="spaceRect" presStyleCnt="0"/>
      <dgm:spPr/>
    </dgm:pt>
    <dgm:pt modelId="{D93F6768-0B96-4396-9A4D-AD6CA685E1F0}" type="pres">
      <dgm:prSet presAssocID="{58970695-65CD-4B96-8AF0-2349EE49AD72}" presName="textRect" presStyleLbl="revTx" presStyleIdx="3" presStyleCnt="6">
        <dgm:presLayoutVars>
          <dgm:chMax val="1"/>
          <dgm:chPref val="1"/>
        </dgm:presLayoutVars>
      </dgm:prSet>
      <dgm:spPr/>
    </dgm:pt>
    <dgm:pt modelId="{C0BB356B-B76D-461B-92C5-88CD101C5427}" type="pres">
      <dgm:prSet presAssocID="{5AE87473-6CAA-4014-AA2F-596C51E0B4F4}" presName="sibTrans" presStyleCnt="0"/>
      <dgm:spPr/>
    </dgm:pt>
    <dgm:pt modelId="{BB118687-C405-4BAB-B8A9-B2A9442C4411}" type="pres">
      <dgm:prSet presAssocID="{9F02F1AB-B697-49B7-9787-C5F5E0BF09CB}" presName="compNode" presStyleCnt="0"/>
      <dgm:spPr/>
    </dgm:pt>
    <dgm:pt modelId="{B08AC7EE-7993-4D2D-A92A-7EA5138BF052}" type="pres">
      <dgm:prSet presAssocID="{9F02F1AB-B697-49B7-9787-C5F5E0BF09CB}" presName="iconBgRect" presStyleLbl="bgShp" presStyleIdx="4" presStyleCnt="6"/>
      <dgm:spPr/>
    </dgm:pt>
    <dgm:pt modelId="{B2A19102-48F7-4FFC-B200-393E498EB174}" type="pres">
      <dgm:prSet presAssocID="{9F02F1AB-B697-49B7-9787-C5F5E0BF09CB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720B88FE-CAAF-4302-926F-5729466B07BB}" type="pres">
      <dgm:prSet presAssocID="{9F02F1AB-B697-49B7-9787-C5F5E0BF09CB}" presName="spaceRect" presStyleCnt="0"/>
      <dgm:spPr/>
    </dgm:pt>
    <dgm:pt modelId="{9049871A-5434-4888-A7DE-D99F2C15F4A0}" type="pres">
      <dgm:prSet presAssocID="{9F02F1AB-B697-49B7-9787-C5F5E0BF09CB}" presName="textRect" presStyleLbl="revTx" presStyleIdx="4" presStyleCnt="6">
        <dgm:presLayoutVars>
          <dgm:chMax val="1"/>
          <dgm:chPref val="1"/>
        </dgm:presLayoutVars>
      </dgm:prSet>
      <dgm:spPr/>
    </dgm:pt>
    <dgm:pt modelId="{6B522BF0-5093-4434-AE42-1E21022C7283}" type="pres">
      <dgm:prSet presAssocID="{E86C0037-18A8-40EA-92D3-4C3D4BFECD34}" presName="sibTrans" presStyleCnt="0"/>
      <dgm:spPr/>
    </dgm:pt>
    <dgm:pt modelId="{41AFE862-44E7-439C-B9A1-982F7065A19B}" type="pres">
      <dgm:prSet presAssocID="{AD1E2E35-4C24-4399-A538-C88DADBFFA54}" presName="compNode" presStyleCnt="0"/>
      <dgm:spPr/>
    </dgm:pt>
    <dgm:pt modelId="{EB459789-0BF4-4BA4-875B-B03386D376C5}" type="pres">
      <dgm:prSet presAssocID="{AD1E2E35-4C24-4399-A538-C88DADBFFA54}" presName="iconBgRect" presStyleLbl="bgShp" presStyleIdx="5" presStyleCnt="6"/>
      <dgm:spPr/>
    </dgm:pt>
    <dgm:pt modelId="{01E5457C-BFB1-4C82-A88F-4E054AAF2E87}" type="pres">
      <dgm:prSet presAssocID="{AD1E2E35-4C24-4399-A538-C88DADBFFA54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C8D858EC-C444-47DB-9A51-F949CC640693}" type="pres">
      <dgm:prSet presAssocID="{AD1E2E35-4C24-4399-A538-C88DADBFFA54}" presName="spaceRect" presStyleCnt="0"/>
      <dgm:spPr/>
    </dgm:pt>
    <dgm:pt modelId="{7C8A559C-D2D6-4A44-92E5-1A9E9D6CB8D3}" type="pres">
      <dgm:prSet presAssocID="{AD1E2E35-4C24-4399-A538-C88DADBFFA5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4C67512-EDBD-4C64-9E29-956BB74E7BFC}" type="presOf" srcId="{58970695-65CD-4B96-8AF0-2349EE49AD72}" destId="{D93F6768-0B96-4396-9A4D-AD6CA685E1F0}" srcOrd="0" destOrd="0" presId="urn:microsoft.com/office/officeart/2018/5/layout/IconCircleLabelList"/>
    <dgm:cxn modelId="{60D40228-6E8A-402C-BDA2-8EF971A281D4}" type="presOf" srcId="{51236DE1-A406-42D5-932E-74F08992C976}" destId="{D4022F9B-B871-4501-BA14-C22779032818}" srcOrd="0" destOrd="0" presId="urn:microsoft.com/office/officeart/2018/5/layout/IconCircleLabelList"/>
    <dgm:cxn modelId="{1E25AC7A-153A-4CF4-9614-0287EAA6EBA9}" srcId="{BC816F16-4990-41C5-B250-7E63685B6BE7}" destId="{AD1E2E35-4C24-4399-A538-C88DADBFFA54}" srcOrd="5" destOrd="0" parTransId="{9E21553C-DD85-4805-8015-A0639CD3560D}" sibTransId="{D1A654E4-01E2-4BC5-AA9A-4BE7F872405C}"/>
    <dgm:cxn modelId="{34840982-C39E-4995-8F07-C94495C588AA}" type="presOf" srcId="{6E28CD97-808C-4E4A-AC18-0E8E652DCA32}" destId="{C0CC3F49-03C5-448A-9355-5942E45D4F93}" srcOrd="0" destOrd="0" presId="urn:microsoft.com/office/officeart/2018/5/layout/IconCircleLabelList"/>
    <dgm:cxn modelId="{EEA08E94-47B2-488A-9E4E-12313F07DBB0}" srcId="{BC816F16-4990-41C5-B250-7E63685B6BE7}" destId="{58970695-65CD-4B96-8AF0-2349EE49AD72}" srcOrd="3" destOrd="0" parTransId="{27F4DA7B-CA01-4122-A491-3947138B8F8C}" sibTransId="{5AE87473-6CAA-4014-AA2F-596C51E0B4F4}"/>
    <dgm:cxn modelId="{32D4819F-25DB-467F-9E86-EB6611F12E35}" srcId="{BC816F16-4990-41C5-B250-7E63685B6BE7}" destId="{9F02F1AB-B697-49B7-9787-C5F5E0BF09CB}" srcOrd="4" destOrd="0" parTransId="{6FF7AAD5-A8A9-4B6E-AF04-46B2D99057DE}" sibTransId="{E86C0037-18A8-40EA-92D3-4C3D4BFECD34}"/>
    <dgm:cxn modelId="{4A701BA5-C6F0-452D-AEF5-CD57F239174C}" type="presOf" srcId="{BC816F16-4990-41C5-B250-7E63685B6BE7}" destId="{D187B121-3BFE-4575-81C3-ECC1C4F45A97}" srcOrd="0" destOrd="0" presId="urn:microsoft.com/office/officeart/2018/5/layout/IconCircleLabelList"/>
    <dgm:cxn modelId="{4B07FDB4-0074-46CD-A7D9-E8B39AEC069E}" srcId="{BC816F16-4990-41C5-B250-7E63685B6BE7}" destId="{9889095F-98AD-49A0-9651-0A80B17F3D6D}" srcOrd="2" destOrd="0" parTransId="{7183E5C3-5FCC-4B5F-B17A-515B07CC9856}" sibTransId="{6B05C8ED-6D04-402A-8D21-E5B91631AD30}"/>
    <dgm:cxn modelId="{E225CBCB-A1AA-465E-96FA-389BFBCA8FB2}" srcId="{BC816F16-4990-41C5-B250-7E63685B6BE7}" destId="{6E28CD97-808C-4E4A-AC18-0E8E652DCA32}" srcOrd="0" destOrd="0" parTransId="{9B8222C9-EB04-4E01-996D-AEEFC2E9BA22}" sibTransId="{4E864D76-1AD9-4542-8D44-0DB583E2A043}"/>
    <dgm:cxn modelId="{FA01C2DA-F0EB-4E3C-916F-E779E5A90C1F}" srcId="{BC816F16-4990-41C5-B250-7E63685B6BE7}" destId="{51236DE1-A406-42D5-932E-74F08992C976}" srcOrd="1" destOrd="0" parTransId="{06842696-7999-4170-BD91-901E6893F03C}" sibTransId="{578086A9-BEC8-4095-ADAE-761C2ACFC6A6}"/>
    <dgm:cxn modelId="{CFDAC6E3-AB59-4106-BA05-5894F10CAAF1}" type="presOf" srcId="{AD1E2E35-4C24-4399-A538-C88DADBFFA54}" destId="{7C8A559C-D2D6-4A44-92E5-1A9E9D6CB8D3}" srcOrd="0" destOrd="0" presId="urn:microsoft.com/office/officeart/2018/5/layout/IconCircleLabelList"/>
    <dgm:cxn modelId="{388066E8-0F87-4019-A0AA-2EFDED1E0E09}" type="presOf" srcId="{9F02F1AB-B697-49B7-9787-C5F5E0BF09CB}" destId="{9049871A-5434-4888-A7DE-D99F2C15F4A0}" srcOrd="0" destOrd="0" presId="urn:microsoft.com/office/officeart/2018/5/layout/IconCircleLabelList"/>
    <dgm:cxn modelId="{9D9729FF-ED8B-4143-B068-96C0408C558A}" type="presOf" srcId="{9889095F-98AD-49A0-9651-0A80B17F3D6D}" destId="{BB967F8A-D8D5-4B72-BB17-FCBAAF1989CC}" srcOrd="0" destOrd="0" presId="urn:microsoft.com/office/officeart/2018/5/layout/IconCircleLabelList"/>
    <dgm:cxn modelId="{29FF4387-D4C2-46A6-9E17-3BCD9E821B55}" type="presParOf" srcId="{D187B121-3BFE-4575-81C3-ECC1C4F45A97}" destId="{CF9FBB0D-9F33-4011-8DD7-6C4FFCA2ED1D}" srcOrd="0" destOrd="0" presId="urn:microsoft.com/office/officeart/2018/5/layout/IconCircleLabelList"/>
    <dgm:cxn modelId="{FA92F647-83DF-4735-97A5-960370F1FAC2}" type="presParOf" srcId="{CF9FBB0D-9F33-4011-8DD7-6C4FFCA2ED1D}" destId="{3BF37B23-2D67-4B25-B9D5-2F50986D232E}" srcOrd="0" destOrd="0" presId="urn:microsoft.com/office/officeart/2018/5/layout/IconCircleLabelList"/>
    <dgm:cxn modelId="{63305285-45CB-4C8E-9182-30F1C1109255}" type="presParOf" srcId="{CF9FBB0D-9F33-4011-8DD7-6C4FFCA2ED1D}" destId="{2FC2B831-B7A5-49F5-B830-DCC03CEB013A}" srcOrd="1" destOrd="0" presId="urn:microsoft.com/office/officeart/2018/5/layout/IconCircleLabelList"/>
    <dgm:cxn modelId="{CF452CD7-3B7B-4983-8373-B230B3B772FF}" type="presParOf" srcId="{CF9FBB0D-9F33-4011-8DD7-6C4FFCA2ED1D}" destId="{52DC8339-B178-4C00-B84A-98D46F491B52}" srcOrd="2" destOrd="0" presId="urn:microsoft.com/office/officeart/2018/5/layout/IconCircleLabelList"/>
    <dgm:cxn modelId="{01276C6B-D150-42F9-9A90-F2338C3B3528}" type="presParOf" srcId="{CF9FBB0D-9F33-4011-8DD7-6C4FFCA2ED1D}" destId="{C0CC3F49-03C5-448A-9355-5942E45D4F93}" srcOrd="3" destOrd="0" presId="urn:microsoft.com/office/officeart/2018/5/layout/IconCircleLabelList"/>
    <dgm:cxn modelId="{38AD7D92-4122-4395-B7B5-690D566A874E}" type="presParOf" srcId="{D187B121-3BFE-4575-81C3-ECC1C4F45A97}" destId="{0E328E54-6B7E-4175-B772-FA34E33F9D9F}" srcOrd="1" destOrd="0" presId="urn:microsoft.com/office/officeart/2018/5/layout/IconCircleLabelList"/>
    <dgm:cxn modelId="{4EFE65DE-E563-4654-9736-258B2BB50A5F}" type="presParOf" srcId="{D187B121-3BFE-4575-81C3-ECC1C4F45A97}" destId="{F486ADDD-2746-48D4-AA22-69F3BDD5164C}" srcOrd="2" destOrd="0" presId="urn:microsoft.com/office/officeart/2018/5/layout/IconCircleLabelList"/>
    <dgm:cxn modelId="{905A8A21-7B15-46E4-876F-B73B5A4757D8}" type="presParOf" srcId="{F486ADDD-2746-48D4-AA22-69F3BDD5164C}" destId="{F451D1A0-2A34-4787-BEAE-07952FC6692E}" srcOrd="0" destOrd="0" presId="urn:microsoft.com/office/officeart/2018/5/layout/IconCircleLabelList"/>
    <dgm:cxn modelId="{94ECBF48-A394-4C3F-BAAC-E079BDFC5B92}" type="presParOf" srcId="{F486ADDD-2746-48D4-AA22-69F3BDD5164C}" destId="{0B331612-8FB0-4588-8237-589641F9E848}" srcOrd="1" destOrd="0" presId="urn:microsoft.com/office/officeart/2018/5/layout/IconCircleLabelList"/>
    <dgm:cxn modelId="{B218516B-10AB-4415-9934-860321FA1CDC}" type="presParOf" srcId="{F486ADDD-2746-48D4-AA22-69F3BDD5164C}" destId="{7C85E4D7-D51E-4D75-8913-F7DD49055823}" srcOrd="2" destOrd="0" presId="urn:microsoft.com/office/officeart/2018/5/layout/IconCircleLabelList"/>
    <dgm:cxn modelId="{7235AAD3-6A1C-461F-83FC-B5A834534935}" type="presParOf" srcId="{F486ADDD-2746-48D4-AA22-69F3BDD5164C}" destId="{D4022F9B-B871-4501-BA14-C22779032818}" srcOrd="3" destOrd="0" presId="urn:microsoft.com/office/officeart/2018/5/layout/IconCircleLabelList"/>
    <dgm:cxn modelId="{5CC8F090-5472-4E3B-828D-2809E8B2010D}" type="presParOf" srcId="{D187B121-3BFE-4575-81C3-ECC1C4F45A97}" destId="{9F530545-BECE-4696-84C2-6658E3C1727F}" srcOrd="3" destOrd="0" presId="urn:microsoft.com/office/officeart/2018/5/layout/IconCircleLabelList"/>
    <dgm:cxn modelId="{2B4E79B7-0A18-43C6-9E5D-3DCFCD7C2791}" type="presParOf" srcId="{D187B121-3BFE-4575-81C3-ECC1C4F45A97}" destId="{9E1793C3-0249-4555-A5B1-29B55CDEB606}" srcOrd="4" destOrd="0" presId="urn:microsoft.com/office/officeart/2018/5/layout/IconCircleLabelList"/>
    <dgm:cxn modelId="{3973EA75-0B57-4145-ACB8-C226328C579B}" type="presParOf" srcId="{9E1793C3-0249-4555-A5B1-29B55CDEB606}" destId="{C603759A-1806-4F80-8232-2B12FB63853E}" srcOrd="0" destOrd="0" presId="urn:microsoft.com/office/officeart/2018/5/layout/IconCircleLabelList"/>
    <dgm:cxn modelId="{14D35337-D3C7-431C-9A85-12973DA28B62}" type="presParOf" srcId="{9E1793C3-0249-4555-A5B1-29B55CDEB606}" destId="{9AEB1B21-F978-47DE-A2A7-8D817A0CA6DF}" srcOrd="1" destOrd="0" presId="urn:microsoft.com/office/officeart/2018/5/layout/IconCircleLabelList"/>
    <dgm:cxn modelId="{C27B5B49-F976-4380-915C-AC778A85BCF0}" type="presParOf" srcId="{9E1793C3-0249-4555-A5B1-29B55CDEB606}" destId="{635FA745-DD4B-480E-AE6C-6D3CE9D7720F}" srcOrd="2" destOrd="0" presId="urn:microsoft.com/office/officeart/2018/5/layout/IconCircleLabelList"/>
    <dgm:cxn modelId="{7CBBA304-9E68-449C-8D88-F4187B6D37D0}" type="presParOf" srcId="{9E1793C3-0249-4555-A5B1-29B55CDEB606}" destId="{BB967F8A-D8D5-4B72-BB17-FCBAAF1989CC}" srcOrd="3" destOrd="0" presId="urn:microsoft.com/office/officeart/2018/5/layout/IconCircleLabelList"/>
    <dgm:cxn modelId="{227F1FEA-542C-4EB3-9FC3-08271A02F312}" type="presParOf" srcId="{D187B121-3BFE-4575-81C3-ECC1C4F45A97}" destId="{E14D136B-595A-4FA7-93A0-AA95B2AC34F0}" srcOrd="5" destOrd="0" presId="urn:microsoft.com/office/officeart/2018/5/layout/IconCircleLabelList"/>
    <dgm:cxn modelId="{8E7B209D-3619-4C1A-B376-3D7E57DD3875}" type="presParOf" srcId="{D187B121-3BFE-4575-81C3-ECC1C4F45A97}" destId="{24E0FEE7-791B-4A86-90FA-E07376C14C5B}" srcOrd="6" destOrd="0" presId="urn:microsoft.com/office/officeart/2018/5/layout/IconCircleLabelList"/>
    <dgm:cxn modelId="{6C2B390D-8179-412F-9FEC-2AEF5D6E1BBA}" type="presParOf" srcId="{24E0FEE7-791B-4A86-90FA-E07376C14C5B}" destId="{F853AA77-E158-4727-A69D-ED0A191528B1}" srcOrd="0" destOrd="0" presId="urn:microsoft.com/office/officeart/2018/5/layout/IconCircleLabelList"/>
    <dgm:cxn modelId="{C6320D7C-B4B0-4F60-8836-EAAD1D27FBE1}" type="presParOf" srcId="{24E0FEE7-791B-4A86-90FA-E07376C14C5B}" destId="{C9FCDEA1-B40C-4E7B-9662-F0B6B8A69F6B}" srcOrd="1" destOrd="0" presId="urn:microsoft.com/office/officeart/2018/5/layout/IconCircleLabelList"/>
    <dgm:cxn modelId="{15A19C1A-2FAD-4F92-A016-DE89FDE4650C}" type="presParOf" srcId="{24E0FEE7-791B-4A86-90FA-E07376C14C5B}" destId="{DE1FE8F5-0652-4A78-BB47-E3BF1B27DB13}" srcOrd="2" destOrd="0" presId="urn:microsoft.com/office/officeart/2018/5/layout/IconCircleLabelList"/>
    <dgm:cxn modelId="{9EAD43D3-E7E1-460E-81A9-3CE7A92A876D}" type="presParOf" srcId="{24E0FEE7-791B-4A86-90FA-E07376C14C5B}" destId="{D93F6768-0B96-4396-9A4D-AD6CA685E1F0}" srcOrd="3" destOrd="0" presId="urn:microsoft.com/office/officeart/2018/5/layout/IconCircleLabelList"/>
    <dgm:cxn modelId="{6F30F8E9-21A8-42B0-BB7E-2F387F59ACF6}" type="presParOf" srcId="{D187B121-3BFE-4575-81C3-ECC1C4F45A97}" destId="{C0BB356B-B76D-461B-92C5-88CD101C5427}" srcOrd="7" destOrd="0" presId="urn:microsoft.com/office/officeart/2018/5/layout/IconCircleLabelList"/>
    <dgm:cxn modelId="{C61D5D07-C42E-4C79-9BD4-1FBE6982827A}" type="presParOf" srcId="{D187B121-3BFE-4575-81C3-ECC1C4F45A97}" destId="{BB118687-C405-4BAB-B8A9-B2A9442C4411}" srcOrd="8" destOrd="0" presId="urn:microsoft.com/office/officeart/2018/5/layout/IconCircleLabelList"/>
    <dgm:cxn modelId="{301806AD-A2C7-461F-BF9F-CABFA0F33882}" type="presParOf" srcId="{BB118687-C405-4BAB-B8A9-B2A9442C4411}" destId="{B08AC7EE-7993-4D2D-A92A-7EA5138BF052}" srcOrd="0" destOrd="0" presId="urn:microsoft.com/office/officeart/2018/5/layout/IconCircleLabelList"/>
    <dgm:cxn modelId="{D6F9EB51-DD18-476C-B5E8-DFC257056718}" type="presParOf" srcId="{BB118687-C405-4BAB-B8A9-B2A9442C4411}" destId="{B2A19102-48F7-4FFC-B200-393E498EB174}" srcOrd="1" destOrd="0" presId="urn:microsoft.com/office/officeart/2018/5/layout/IconCircleLabelList"/>
    <dgm:cxn modelId="{AB09C929-B30A-4DBC-922E-C60EA3D9B4A5}" type="presParOf" srcId="{BB118687-C405-4BAB-B8A9-B2A9442C4411}" destId="{720B88FE-CAAF-4302-926F-5729466B07BB}" srcOrd="2" destOrd="0" presId="urn:microsoft.com/office/officeart/2018/5/layout/IconCircleLabelList"/>
    <dgm:cxn modelId="{7B277501-F3C1-432D-939F-FA13C0C79126}" type="presParOf" srcId="{BB118687-C405-4BAB-B8A9-B2A9442C4411}" destId="{9049871A-5434-4888-A7DE-D99F2C15F4A0}" srcOrd="3" destOrd="0" presId="urn:microsoft.com/office/officeart/2018/5/layout/IconCircleLabelList"/>
    <dgm:cxn modelId="{CC0EC99B-15B2-42BD-BA29-3C3DC3E231C3}" type="presParOf" srcId="{D187B121-3BFE-4575-81C3-ECC1C4F45A97}" destId="{6B522BF0-5093-4434-AE42-1E21022C7283}" srcOrd="9" destOrd="0" presId="urn:microsoft.com/office/officeart/2018/5/layout/IconCircleLabelList"/>
    <dgm:cxn modelId="{3FA4F362-6733-4EDD-AC6F-AFB5471452A2}" type="presParOf" srcId="{D187B121-3BFE-4575-81C3-ECC1C4F45A97}" destId="{41AFE862-44E7-439C-B9A1-982F7065A19B}" srcOrd="10" destOrd="0" presId="urn:microsoft.com/office/officeart/2018/5/layout/IconCircleLabelList"/>
    <dgm:cxn modelId="{CCADDDE3-542F-4809-9A0C-7C0E67F73581}" type="presParOf" srcId="{41AFE862-44E7-439C-B9A1-982F7065A19B}" destId="{EB459789-0BF4-4BA4-875B-B03386D376C5}" srcOrd="0" destOrd="0" presId="urn:microsoft.com/office/officeart/2018/5/layout/IconCircleLabelList"/>
    <dgm:cxn modelId="{5E2533D7-B18C-44BE-A6EB-1BE5C6566DA9}" type="presParOf" srcId="{41AFE862-44E7-439C-B9A1-982F7065A19B}" destId="{01E5457C-BFB1-4C82-A88F-4E054AAF2E87}" srcOrd="1" destOrd="0" presId="urn:microsoft.com/office/officeart/2018/5/layout/IconCircleLabelList"/>
    <dgm:cxn modelId="{F69CF34C-F066-4191-8C70-5EEB831FE8D4}" type="presParOf" srcId="{41AFE862-44E7-439C-B9A1-982F7065A19B}" destId="{C8D858EC-C444-47DB-9A51-F949CC640693}" srcOrd="2" destOrd="0" presId="urn:microsoft.com/office/officeart/2018/5/layout/IconCircleLabelList"/>
    <dgm:cxn modelId="{D13361D2-06C7-4D29-9D54-FA82FC7973E2}" type="presParOf" srcId="{41AFE862-44E7-439C-B9A1-982F7065A19B}" destId="{7C8A559C-D2D6-4A44-92E5-1A9E9D6CB8D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4D0FCF-9B1F-4E7A-A716-E4F71E2D69C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81BFE32-D450-4439-9AAC-726D1E8D0187}">
      <dgm:prSet/>
      <dgm:spPr/>
      <dgm:t>
        <a:bodyPr/>
        <a:lstStyle/>
        <a:p>
          <a:r>
            <a:rPr lang="en-IN"/>
            <a:t>The novelty is not simply recommending food for diabetic users; it is integrating multiple decision factors into a restaurant-oriented workflow.</a:t>
          </a:r>
          <a:endParaRPr lang="en-US"/>
        </a:p>
      </dgm:t>
    </dgm:pt>
    <dgm:pt modelId="{C99D2AF1-2FB8-47A2-8A3F-6C3F627C9E88}" type="parTrans" cxnId="{529B5B79-76FF-4345-AA22-56C22EDCC535}">
      <dgm:prSet/>
      <dgm:spPr/>
      <dgm:t>
        <a:bodyPr/>
        <a:lstStyle/>
        <a:p>
          <a:endParaRPr lang="en-US"/>
        </a:p>
      </dgm:t>
    </dgm:pt>
    <dgm:pt modelId="{E4F1C83A-FC77-4ED6-98F6-2242A3B38D2A}" type="sibTrans" cxnId="{529B5B79-76FF-4345-AA22-56C22EDCC535}">
      <dgm:prSet/>
      <dgm:spPr/>
      <dgm:t>
        <a:bodyPr/>
        <a:lstStyle/>
        <a:p>
          <a:endParaRPr lang="en-US"/>
        </a:p>
      </dgm:t>
    </dgm:pt>
    <dgm:pt modelId="{6DE91CF8-6B09-414D-AB92-48BB07556932}">
      <dgm:prSet/>
      <dgm:spPr/>
      <dgm:t>
        <a:bodyPr/>
        <a:lstStyle/>
        <a:p>
          <a:r>
            <a:rPr lang="en-IN"/>
            <a:t>Health + Restaurant Context: Combines patient health information with restaurant price and geographic distance.</a:t>
          </a:r>
          <a:endParaRPr lang="en-US"/>
        </a:p>
      </dgm:t>
    </dgm:pt>
    <dgm:pt modelId="{F18FDAFA-8F88-4E35-B993-DBFE0610D817}" type="parTrans" cxnId="{A5F6FF6A-4951-434C-AF8A-EA289CE6B1D2}">
      <dgm:prSet/>
      <dgm:spPr/>
      <dgm:t>
        <a:bodyPr/>
        <a:lstStyle/>
        <a:p>
          <a:endParaRPr lang="en-US"/>
        </a:p>
      </dgm:t>
    </dgm:pt>
    <dgm:pt modelId="{1E52B499-2F84-4371-AA4F-1E4F1ABA2CCB}" type="sibTrans" cxnId="{A5F6FF6A-4951-434C-AF8A-EA289CE6B1D2}">
      <dgm:prSet/>
      <dgm:spPr/>
      <dgm:t>
        <a:bodyPr/>
        <a:lstStyle/>
        <a:p>
          <a:endParaRPr lang="en-US"/>
        </a:p>
      </dgm:t>
    </dgm:pt>
    <dgm:pt modelId="{E4F1BC33-318B-49DC-BB37-E6C6B962A242}">
      <dgm:prSet/>
      <dgm:spPr/>
      <dgm:t>
        <a:bodyPr/>
        <a:lstStyle/>
        <a:p>
          <a:r>
            <a:rPr lang="en-IN"/>
            <a:t>GL-Based Evaluation: Uses a measurable glycemic criterion instead of relying only on generic healthy-food labels.</a:t>
          </a:r>
          <a:endParaRPr lang="en-US"/>
        </a:p>
      </dgm:t>
    </dgm:pt>
    <dgm:pt modelId="{D50E6494-8605-4EA1-AA10-3E3E358629AE}" type="parTrans" cxnId="{7321C763-B923-4034-B20C-04BC765483AD}">
      <dgm:prSet/>
      <dgm:spPr/>
      <dgm:t>
        <a:bodyPr/>
        <a:lstStyle/>
        <a:p>
          <a:endParaRPr lang="en-US"/>
        </a:p>
      </dgm:t>
    </dgm:pt>
    <dgm:pt modelId="{E3990129-C26B-4183-AC2C-0F4971679872}" type="sibTrans" cxnId="{7321C763-B923-4034-B20C-04BC765483AD}">
      <dgm:prSet/>
      <dgm:spPr/>
      <dgm:t>
        <a:bodyPr/>
        <a:lstStyle/>
        <a:p>
          <a:endParaRPr lang="en-US"/>
        </a:p>
      </dgm:t>
    </dgm:pt>
    <dgm:pt modelId="{7DB3BD49-5770-4C35-9E29-184E86534FDD}">
      <dgm:prSet/>
      <dgm:spPr/>
      <dgm:t>
        <a:bodyPr/>
        <a:lstStyle/>
        <a:p>
          <a:r>
            <a:rPr lang="en-IN"/>
            <a:t>MCDM-Based Ranking: Balances competing health, budget, and distance requirements.</a:t>
          </a:r>
          <a:endParaRPr lang="en-US"/>
        </a:p>
      </dgm:t>
    </dgm:pt>
    <dgm:pt modelId="{883274B3-C385-4116-AAF4-4F8271C45ACA}" type="parTrans" cxnId="{2E0D4CB2-04A8-477B-B402-8CA68336F201}">
      <dgm:prSet/>
      <dgm:spPr/>
      <dgm:t>
        <a:bodyPr/>
        <a:lstStyle/>
        <a:p>
          <a:endParaRPr lang="en-US"/>
        </a:p>
      </dgm:t>
    </dgm:pt>
    <dgm:pt modelId="{04DD9A90-B53E-4497-9E07-7B34090D9E4A}" type="sibTrans" cxnId="{2E0D4CB2-04A8-477B-B402-8CA68336F201}">
      <dgm:prSet/>
      <dgm:spPr/>
      <dgm:t>
        <a:bodyPr/>
        <a:lstStyle/>
        <a:p>
          <a:endParaRPr lang="en-US"/>
        </a:p>
      </dgm:t>
    </dgm:pt>
    <dgm:pt modelId="{9627DD47-29C3-4A7B-8DB3-20D03670A07C}">
      <dgm:prSet/>
      <dgm:spPr/>
      <dgm:t>
        <a:bodyPr/>
        <a:lstStyle/>
        <a:p>
          <a:r>
            <a:rPr lang="en-IN"/>
            <a:t>Explainability: Shows the factors contributing to a meal's ranking.</a:t>
          </a:r>
          <a:endParaRPr lang="en-US"/>
        </a:p>
      </dgm:t>
    </dgm:pt>
    <dgm:pt modelId="{9F75AF97-07B6-4F88-A64F-E0EF5CEA8B0F}" type="parTrans" cxnId="{497ED1C9-081F-4727-9AE9-5A3C0A76235C}">
      <dgm:prSet/>
      <dgm:spPr/>
      <dgm:t>
        <a:bodyPr/>
        <a:lstStyle/>
        <a:p>
          <a:endParaRPr lang="en-US"/>
        </a:p>
      </dgm:t>
    </dgm:pt>
    <dgm:pt modelId="{2F7CA2C3-018A-4ACE-972F-F6138C42437E}" type="sibTrans" cxnId="{497ED1C9-081F-4727-9AE9-5A3C0A76235C}">
      <dgm:prSet/>
      <dgm:spPr/>
      <dgm:t>
        <a:bodyPr/>
        <a:lstStyle/>
        <a:p>
          <a:endParaRPr lang="en-US"/>
        </a:p>
      </dgm:t>
    </dgm:pt>
    <dgm:pt modelId="{4E9A33E2-0BFA-4680-8721-3C9E5F1FED0B}">
      <dgm:prSet/>
      <dgm:spPr/>
      <dgm:t>
        <a:bodyPr/>
        <a:lstStyle/>
        <a:p>
          <a:r>
            <a:rPr lang="en-IN"/>
            <a:t>Smart Ordering: Connects recommendations to practical ordering instructions.</a:t>
          </a:r>
          <a:endParaRPr lang="en-US"/>
        </a:p>
      </dgm:t>
    </dgm:pt>
    <dgm:pt modelId="{3D7F718E-BB30-4A9B-9DF8-596553C03561}" type="parTrans" cxnId="{706521C2-41BA-4051-A821-5D2551EF1795}">
      <dgm:prSet/>
      <dgm:spPr/>
      <dgm:t>
        <a:bodyPr/>
        <a:lstStyle/>
        <a:p>
          <a:endParaRPr lang="en-US"/>
        </a:p>
      </dgm:t>
    </dgm:pt>
    <dgm:pt modelId="{64436117-BF69-40A2-BB11-84E2368F5D8E}" type="sibTrans" cxnId="{706521C2-41BA-4051-A821-5D2551EF1795}">
      <dgm:prSet/>
      <dgm:spPr/>
      <dgm:t>
        <a:bodyPr/>
        <a:lstStyle/>
        <a:p>
          <a:endParaRPr lang="en-US"/>
        </a:p>
      </dgm:t>
    </dgm:pt>
    <dgm:pt modelId="{5F2E842F-BC9F-4050-B923-6D4C707F1B87}">
      <dgm:prSet/>
      <dgm:spPr/>
      <dgm:t>
        <a:bodyPr/>
        <a:lstStyle/>
        <a:p>
          <a:r>
            <a:rPr lang="en-IN"/>
            <a:t>Feedback-Based Personalization: Uses recorded post-meal glucose readings as a basis for future improvements.</a:t>
          </a:r>
          <a:endParaRPr lang="en-US"/>
        </a:p>
      </dgm:t>
    </dgm:pt>
    <dgm:pt modelId="{91EC0E30-EE08-4F28-8183-2780B6E8F6B2}" type="parTrans" cxnId="{5ABFB97B-EF9D-463E-8DCF-DE73152C10C8}">
      <dgm:prSet/>
      <dgm:spPr/>
      <dgm:t>
        <a:bodyPr/>
        <a:lstStyle/>
        <a:p>
          <a:endParaRPr lang="en-US"/>
        </a:p>
      </dgm:t>
    </dgm:pt>
    <dgm:pt modelId="{3170ACA1-B929-46CC-907F-536CBFCDE0C5}" type="sibTrans" cxnId="{5ABFB97B-EF9D-463E-8DCF-DE73152C10C8}">
      <dgm:prSet/>
      <dgm:spPr/>
      <dgm:t>
        <a:bodyPr/>
        <a:lstStyle/>
        <a:p>
          <a:endParaRPr lang="en-US"/>
        </a:p>
      </dgm:t>
    </dgm:pt>
    <dgm:pt modelId="{FFDCDBFA-8C5D-492C-95B4-7911DD414BDE}" type="pres">
      <dgm:prSet presAssocID="{A64D0FCF-9B1F-4E7A-A716-E4F71E2D69C0}" presName="root" presStyleCnt="0">
        <dgm:presLayoutVars>
          <dgm:dir/>
          <dgm:resizeHandles val="exact"/>
        </dgm:presLayoutVars>
      </dgm:prSet>
      <dgm:spPr/>
    </dgm:pt>
    <dgm:pt modelId="{C59BC836-862D-4676-A214-5A730AAA2043}" type="pres">
      <dgm:prSet presAssocID="{781BFE32-D450-4439-9AAC-726D1E8D0187}" presName="compNode" presStyleCnt="0"/>
      <dgm:spPr/>
    </dgm:pt>
    <dgm:pt modelId="{6EDDCAA3-1B18-43DF-B895-D8041FC1273D}" type="pres">
      <dgm:prSet presAssocID="{781BFE32-D450-4439-9AAC-726D1E8D0187}" presName="bgRect" presStyleLbl="bgShp" presStyleIdx="0" presStyleCnt="7"/>
      <dgm:spPr/>
    </dgm:pt>
    <dgm:pt modelId="{F4D96113-F7B2-4426-B9C7-CB2B5DED6633}" type="pres">
      <dgm:prSet presAssocID="{781BFE32-D450-4439-9AAC-726D1E8D0187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EA7C28A5-0D7B-4B52-9EB8-C8AC1B259404}" type="pres">
      <dgm:prSet presAssocID="{781BFE32-D450-4439-9AAC-726D1E8D0187}" presName="spaceRect" presStyleCnt="0"/>
      <dgm:spPr/>
    </dgm:pt>
    <dgm:pt modelId="{5D535B55-F746-4E82-8D76-B7C049EF5A8D}" type="pres">
      <dgm:prSet presAssocID="{781BFE32-D450-4439-9AAC-726D1E8D0187}" presName="parTx" presStyleLbl="revTx" presStyleIdx="0" presStyleCnt="7">
        <dgm:presLayoutVars>
          <dgm:chMax val="0"/>
          <dgm:chPref val="0"/>
        </dgm:presLayoutVars>
      </dgm:prSet>
      <dgm:spPr/>
    </dgm:pt>
    <dgm:pt modelId="{FD0CBDFD-49D3-487F-AC8C-436366BBECB8}" type="pres">
      <dgm:prSet presAssocID="{E4F1C83A-FC77-4ED6-98F6-2242A3B38D2A}" presName="sibTrans" presStyleCnt="0"/>
      <dgm:spPr/>
    </dgm:pt>
    <dgm:pt modelId="{D1EA9C52-4967-4765-9120-987AF8C7E86C}" type="pres">
      <dgm:prSet presAssocID="{6DE91CF8-6B09-414D-AB92-48BB07556932}" presName="compNode" presStyleCnt="0"/>
      <dgm:spPr/>
    </dgm:pt>
    <dgm:pt modelId="{8D19EDDB-1D42-4E91-BC34-B9EACA4BA5C5}" type="pres">
      <dgm:prSet presAssocID="{6DE91CF8-6B09-414D-AB92-48BB07556932}" presName="bgRect" presStyleLbl="bgShp" presStyleIdx="1" presStyleCnt="7"/>
      <dgm:spPr/>
    </dgm:pt>
    <dgm:pt modelId="{AD42B999-52A8-4B1C-A51A-553573830790}" type="pres">
      <dgm:prSet presAssocID="{6DE91CF8-6B09-414D-AB92-48BB07556932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rger and Drink"/>
        </a:ext>
      </dgm:extLst>
    </dgm:pt>
    <dgm:pt modelId="{9ADA26A4-3903-4405-B724-23A6E06C48C0}" type="pres">
      <dgm:prSet presAssocID="{6DE91CF8-6B09-414D-AB92-48BB07556932}" presName="spaceRect" presStyleCnt="0"/>
      <dgm:spPr/>
    </dgm:pt>
    <dgm:pt modelId="{ACA82AD0-9FC9-44EF-BAA5-EA553D2D9690}" type="pres">
      <dgm:prSet presAssocID="{6DE91CF8-6B09-414D-AB92-48BB07556932}" presName="parTx" presStyleLbl="revTx" presStyleIdx="1" presStyleCnt="7">
        <dgm:presLayoutVars>
          <dgm:chMax val="0"/>
          <dgm:chPref val="0"/>
        </dgm:presLayoutVars>
      </dgm:prSet>
      <dgm:spPr/>
    </dgm:pt>
    <dgm:pt modelId="{DD9550E5-5886-46E9-B960-D7801215A87C}" type="pres">
      <dgm:prSet presAssocID="{1E52B499-2F84-4371-AA4F-1E4F1ABA2CCB}" presName="sibTrans" presStyleCnt="0"/>
      <dgm:spPr/>
    </dgm:pt>
    <dgm:pt modelId="{86A2C58D-1E17-4FE4-AFBB-1B212E7AC3B8}" type="pres">
      <dgm:prSet presAssocID="{E4F1BC33-318B-49DC-BB37-E6C6B962A242}" presName="compNode" presStyleCnt="0"/>
      <dgm:spPr/>
    </dgm:pt>
    <dgm:pt modelId="{6B917D02-20FC-46A8-A64C-4FF9EF20A4BA}" type="pres">
      <dgm:prSet presAssocID="{E4F1BC33-318B-49DC-BB37-E6C6B962A242}" presName="bgRect" presStyleLbl="bgShp" presStyleIdx="2" presStyleCnt="7"/>
      <dgm:spPr/>
    </dgm:pt>
    <dgm:pt modelId="{F54FD4BE-6DF0-4B01-A787-673CB2AEEB92}" type="pres">
      <dgm:prSet presAssocID="{E4F1BC33-318B-49DC-BB37-E6C6B962A242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ple"/>
        </a:ext>
      </dgm:extLst>
    </dgm:pt>
    <dgm:pt modelId="{8412CF3E-CBA5-480A-9D96-9A461BF1B939}" type="pres">
      <dgm:prSet presAssocID="{E4F1BC33-318B-49DC-BB37-E6C6B962A242}" presName="spaceRect" presStyleCnt="0"/>
      <dgm:spPr/>
    </dgm:pt>
    <dgm:pt modelId="{66A67771-1941-449B-B7AE-8C37439B5366}" type="pres">
      <dgm:prSet presAssocID="{E4F1BC33-318B-49DC-BB37-E6C6B962A242}" presName="parTx" presStyleLbl="revTx" presStyleIdx="2" presStyleCnt="7">
        <dgm:presLayoutVars>
          <dgm:chMax val="0"/>
          <dgm:chPref val="0"/>
        </dgm:presLayoutVars>
      </dgm:prSet>
      <dgm:spPr/>
    </dgm:pt>
    <dgm:pt modelId="{27240C89-2899-4E38-BD34-319CB6E4DCA7}" type="pres">
      <dgm:prSet presAssocID="{E3990129-C26B-4183-AC2C-0F4971679872}" presName="sibTrans" presStyleCnt="0"/>
      <dgm:spPr/>
    </dgm:pt>
    <dgm:pt modelId="{A3948E42-748B-4419-9EF6-E97018AB1408}" type="pres">
      <dgm:prSet presAssocID="{7DB3BD49-5770-4C35-9E29-184E86534FDD}" presName="compNode" presStyleCnt="0"/>
      <dgm:spPr/>
    </dgm:pt>
    <dgm:pt modelId="{A2462B6B-A914-4999-BF41-BC44ADB33308}" type="pres">
      <dgm:prSet presAssocID="{7DB3BD49-5770-4C35-9E29-184E86534FDD}" presName="bgRect" presStyleLbl="bgShp" presStyleIdx="3" presStyleCnt="7"/>
      <dgm:spPr/>
    </dgm:pt>
    <dgm:pt modelId="{AA2E9C5C-A30F-4307-8A0F-FD4ECE6E8733}" type="pres">
      <dgm:prSet presAssocID="{7DB3BD49-5770-4C35-9E29-184E86534FDD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1B4A4014-30A5-41E3-A9AB-8B6E70F6E208}" type="pres">
      <dgm:prSet presAssocID="{7DB3BD49-5770-4C35-9E29-184E86534FDD}" presName="spaceRect" presStyleCnt="0"/>
      <dgm:spPr/>
    </dgm:pt>
    <dgm:pt modelId="{12B8FB22-92DC-4E0A-A185-0A7A9EDC852D}" type="pres">
      <dgm:prSet presAssocID="{7DB3BD49-5770-4C35-9E29-184E86534FDD}" presName="parTx" presStyleLbl="revTx" presStyleIdx="3" presStyleCnt="7">
        <dgm:presLayoutVars>
          <dgm:chMax val="0"/>
          <dgm:chPref val="0"/>
        </dgm:presLayoutVars>
      </dgm:prSet>
      <dgm:spPr/>
    </dgm:pt>
    <dgm:pt modelId="{3881A388-7131-4BD8-8AED-A4DC61B29662}" type="pres">
      <dgm:prSet presAssocID="{04DD9A90-B53E-4497-9E07-7B34090D9E4A}" presName="sibTrans" presStyleCnt="0"/>
      <dgm:spPr/>
    </dgm:pt>
    <dgm:pt modelId="{8EF5B700-0358-4399-A5D9-21694FC28261}" type="pres">
      <dgm:prSet presAssocID="{9627DD47-29C3-4A7B-8DB3-20D03670A07C}" presName="compNode" presStyleCnt="0"/>
      <dgm:spPr/>
    </dgm:pt>
    <dgm:pt modelId="{26A71139-1BF8-4E02-BE21-AAE5E6BC10FC}" type="pres">
      <dgm:prSet presAssocID="{9627DD47-29C3-4A7B-8DB3-20D03670A07C}" presName="bgRect" presStyleLbl="bgShp" presStyleIdx="4" presStyleCnt="7"/>
      <dgm:spPr/>
    </dgm:pt>
    <dgm:pt modelId="{980CA0E3-C52F-490F-BA00-3CBE99FD0362}" type="pres">
      <dgm:prSet presAssocID="{9627DD47-29C3-4A7B-8DB3-20D03670A07C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wl"/>
        </a:ext>
      </dgm:extLst>
    </dgm:pt>
    <dgm:pt modelId="{B044245E-E78C-4AE4-9A92-3D6916EB0ECC}" type="pres">
      <dgm:prSet presAssocID="{9627DD47-29C3-4A7B-8DB3-20D03670A07C}" presName="spaceRect" presStyleCnt="0"/>
      <dgm:spPr/>
    </dgm:pt>
    <dgm:pt modelId="{CD24530B-BF10-4B15-B5B5-F804BED32440}" type="pres">
      <dgm:prSet presAssocID="{9627DD47-29C3-4A7B-8DB3-20D03670A07C}" presName="parTx" presStyleLbl="revTx" presStyleIdx="4" presStyleCnt="7">
        <dgm:presLayoutVars>
          <dgm:chMax val="0"/>
          <dgm:chPref val="0"/>
        </dgm:presLayoutVars>
      </dgm:prSet>
      <dgm:spPr/>
    </dgm:pt>
    <dgm:pt modelId="{542CB97E-92CE-4DDB-8AA5-58FD98786F53}" type="pres">
      <dgm:prSet presAssocID="{2F7CA2C3-018A-4ACE-972F-F6138C42437E}" presName="sibTrans" presStyleCnt="0"/>
      <dgm:spPr/>
    </dgm:pt>
    <dgm:pt modelId="{C7FFE6FE-F9BD-4719-824D-F69680B4026B}" type="pres">
      <dgm:prSet presAssocID="{4E9A33E2-0BFA-4680-8721-3C9E5F1FED0B}" presName="compNode" presStyleCnt="0"/>
      <dgm:spPr/>
    </dgm:pt>
    <dgm:pt modelId="{8C71AB0F-CFE6-4329-BF5B-2B0AE5DAD99F}" type="pres">
      <dgm:prSet presAssocID="{4E9A33E2-0BFA-4680-8721-3C9E5F1FED0B}" presName="bgRect" presStyleLbl="bgShp" presStyleIdx="5" presStyleCnt="7"/>
      <dgm:spPr/>
    </dgm:pt>
    <dgm:pt modelId="{0F7D988F-4DF9-419A-BAF5-190F2012ACA6}" type="pres">
      <dgm:prSet presAssocID="{4E9A33E2-0BFA-4680-8721-3C9E5F1FED0B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807D2E69-F413-4D7B-9E1F-931FBA79EBE5}" type="pres">
      <dgm:prSet presAssocID="{4E9A33E2-0BFA-4680-8721-3C9E5F1FED0B}" presName="spaceRect" presStyleCnt="0"/>
      <dgm:spPr/>
    </dgm:pt>
    <dgm:pt modelId="{ED20F86F-71EB-4346-BAD7-DB133C0AAA23}" type="pres">
      <dgm:prSet presAssocID="{4E9A33E2-0BFA-4680-8721-3C9E5F1FED0B}" presName="parTx" presStyleLbl="revTx" presStyleIdx="5" presStyleCnt="7">
        <dgm:presLayoutVars>
          <dgm:chMax val="0"/>
          <dgm:chPref val="0"/>
        </dgm:presLayoutVars>
      </dgm:prSet>
      <dgm:spPr/>
    </dgm:pt>
    <dgm:pt modelId="{B9F8CFED-8F42-498E-BEE5-1F52F30B359F}" type="pres">
      <dgm:prSet presAssocID="{64436117-BF69-40A2-BB11-84E2368F5D8E}" presName="sibTrans" presStyleCnt="0"/>
      <dgm:spPr/>
    </dgm:pt>
    <dgm:pt modelId="{ADB29A05-F47C-4268-8C22-56353E4F7A81}" type="pres">
      <dgm:prSet presAssocID="{5F2E842F-BC9F-4050-B923-6D4C707F1B87}" presName="compNode" presStyleCnt="0"/>
      <dgm:spPr/>
    </dgm:pt>
    <dgm:pt modelId="{F6B9187A-4DA5-425E-8FB4-212877B170C1}" type="pres">
      <dgm:prSet presAssocID="{5F2E842F-BC9F-4050-B923-6D4C707F1B87}" presName="bgRect" presStyleLbl="bgShp" presStyleIdx="6" presStyleCnt="7"/>
      <dgm:spPr/>
    </dgm:pt>
    <dgm:pt modelId="{B793FF12-AF2E-4CE5-9F02-5B9C2013B169}" type="pres">
      <dgm:prSet presAssocID="{5F2E842F-BC9F-4050-B923-6D4C707F1B87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F26584E2-8841-47AE-9432-A863F3C33443}" type="pres">
      <dgm:prSet presAssocID="{5F2E842F-BC9F-4050-B923-6D4C707F1B87}" presName="spaceRect" presStyleCnt="0"/>
      <dgm:spPr/>
    </dgm:pt>
    <dgm:pt modelId="{97584868-D359-41BD-88A4-A0767DC6FB7E}" type="pres">
      <dgm:prSet presAssocID="{5F2E842F-BC9F-4050-B923-6D4C707F1B87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096D9906-0333-47FB-976F-D4ABA47AD4EB}" type="presOf" srcId="{781BFE32-D450-4439-9AAC-726D1E8D0187}" destId="{5D535B55-F746-4E82-8D76-B7C049EF5A8D}" srcOrd="0" destOrd="0" presId="urn:microsoft.com/office/officeart/2018/2/layout/IconVerticalSolidList"/>
    <dgm:cxn modelId="{9DE4720B-FB90-4D7A-B063-26B2733E0193}" type="presOf" srcId="{7DB3BD49-5770-4C35-9E29-184E86534FDD}" destId="{12B8FB22-92DC-4E0A-A185-0A7A9EDC852D}" srcOrd="0" destOrd="0" presId="urn:microsoft.com/office/officeart/2018/2/layout/IconVerticalSolidList"/>
    <dgm:cxn modelId="{25906923-79F4-4E9B-B7FD-982C025CD283}" type="presOf" srcId="{9627DD47-29C3-4A7B-8DB3-20D03670A07C}" destId="{CD24530B-BF10-4B15-B5B5-F804BED32440}" srcOrd="0" destOrd="0" presId="urn:microsoft.com/office/officeart/2018/2/layout/IconVerticalSolidList"/>
    <dgm:cxn modelId="{99353362-8171-4398-9D07-AC78BBFB8606}" type="presOf" srcId="{A64D0FCF-9B1F-4E7A-A716-E4F71E2D69C0}" destId="{FFDCDBFA-8C5D-492C-95B4-7911DD414BDE}" srcOrd="0" destOrd="0" presId="urn:microsoft.com/office/officeart/2018/2/layout/IconVerticalSolidList"/>
    <dgm:cxn modelId="{7321C763-B923-4034-B20C-04BC765483AD}" srcId="{A64D0FCF-9B1F-4E7A-A716-E4F71E2D69C0}" destId="{E4F1BC33-318B-49DC-BB37-E6C6B962A242}" srcOrd="2" destOrd="0" parTransId="{D50E6494-8605-4EA1-AA10-3E3E358629AE}" sibTransId="{E3990129-C26B-4183-AC2C-0F4971679872}"/>
    <dgm:cxn modelId="{A5F6FF6A-4951-434C-AF8A-EA289CE6B1D2}" srcId="{A64D0FCF-9B1F-4E7A-A716-E4F71E2D69C0}" destId="{6DE91CF8-6B09-414D-AB92-48BB07556932}" srcOrd="1" destOrd="0" parTransId="{F18FDAFA-8F88-4E35-B993-DBFE0610D817}" sibTransId="{1E52B499-2F84-4371-AA4F-1E4F1ABA2CCB}"/>
    <dgm:cxn modelId="{529B5B79-76FF-4345-AA22-56C22EDCC535}" srcId="{A64D0FCF-9B1F-4E7A-A716-E4F71E2D69C0}" destId="{781BFE32-D450-4439-9AAC-726D1E8D0187}" srcOrd="0" destOrd="0" parTransId="{C99D2AF1-2FB8-47A2-8A3F-6C3F627C9E88}" sibTransId="{E4F1C83A-FC77-4ED6-98F6-2242A3B38D2A}"/>
    <dgm:cxn modelId="{5ABFB97B-EF9D-463E-8DCF-DE73152C10C8}" srcId="{A64D0FCF-9B1F-4E7A-A716-E4F71E2D69C0}" destId="{5F2E842F-BC9F-4050-B923-6D4C707F1B87}" srcOrd="6" destOrd="0" parTransId="{91EC0E30-EE08-4F28-8183-2780B6E8F6B2}" sibTransId="{3170ACA1-B929-46CC-907F-536CBFCDE0C5}"/>
    <dgm:cxn modelId="{23DE167E-E4AF-4293-AA74-0D2E420C8902}" type="presOf" srcId="{5F2E842F-BC9F-4050-B923-6D4C707F1B87}" destId="{97584868-D359-41BD-88A4-A0767DC6FB7E}" srcOrd="0" destOrd="0" presId="urn:microsoft.com/office/officeart/2018/2/layout/IconVerticalSolidList"/>
    <dgm:cxn modelId="{2A308E91-7C68-47B7-BCBB-AA6217D1D438}" type="presOf" srcId="{4E9A33E2-0BFA-4680-8721-3C9E5F1FED0B}" destId="{ED20F86F-71EB-4346-BAD7-DB133C0AAA23}" srcOrd="0" destOrd="0" presId="urn:microsoft.com/office/officeart/2018/2/layout/IconVerticalSolidList"/>
    <dgm:cxn modelId="{C80FC097-BA8D-4445-B426-DCA4AF3C8D7B}" type="presOf" srcId="{6DE91CF8-6B09-414D-AB92-48BB07556932}" destId="{ACA82AD0-9FC9-44EF-BAA5-EA553D2D9690}" srcOrd="0" destOrd="0" presId="urn:microsoft.com/office/officeart/2018/2/layout/IconVerticalSolidList"/>
    <dgm:cxn modelId="{2E0D4CB2-04A8-477B-B402-8CA68336F201}" srcId="{A64D0FCF-9B1F-4E7A-A716-E4F71E2D69C0}" destId="{7DB3BD49-5770-4C35-9E29-184E86534FDD}" srcOrd="3" destOrd="0" parTransId="{883274B3-C385-4116-AAF4-4F8271C45ACA}" sibTransId="{04DD9A90-B53E-4497-9E07-7B34090D9E4A}"/>
    <dgm:cxn modelId="{706521C2-41BA-4051-A821-5D2551EF1795}" srcId="{A64D0FCF-9B1F-4E7A-A716-E4F71E2D69C0}" destId="{4E9A33E2-0BFA-4680-8721-3C9E5F1FED0B}" srcOrd="5" destOrd="0" parTransId="{3D7F718E-BB30-4A9B-9DF8-596553C03561}" sibTransId="{64436117-BF69-40A2-BB11-84E2368F5D8E}"/>
    <dgm:cxn modelId="{497ED1C9-081F-4727-9AE9-5A3C0A76235C}" srcId="{A64D0FCF-9B1F-4E7A-A716-E4F71E2D69C0}" destId="{9627DD47-29C3-4A7B-8DB3-20D03670A07C}" srcOrd="4" destOrd="0" parTransId="{9F75AF97-07B6-4F88-A64F-E0EF5CEA8B0F}" sibTransId="{2F7CA2C3-018A-4ACE-972F-F6138C42437E}"/>
    <dgm:cxn modelId="{167669F5-B12B-4063-859E-0A0D357918AE}" type="presOf" srcId="{E4F1BC33-318B-49DC-BB37-E6C6B962A242}" destId="{66A67771-1941-449B-B7AE-8C37439B5366}" srcOrd="0" destOrd="0" presId="urn:microsoft.com/office/officeart/2018/2/layout/IconVerticalSolidList"/>
    <dgm:cxn modelId="{C982848F-B417-43AA-B82B-CE1CFDA9C616}" type="presParOf" srcId="{FFDCDBFA-8C5D-492C-95B4-7911DD414BDE}" destId="{C59BC836-862D-4676-A214-5A730AAA2043}" srcOrd="0" destOrd="0" presId="urn:microsoft.com/office/officeart/2018/2/layout/IconVerticalSolidList"/>
    <dgm:cxn modelId="{8A521A18-0A97-47D4-ABE8-72D6FAF354A6}" type="presParOf" srcId="{C59BC836-862D-4676-A214-5A730AAA2043}" destId="{6EDDCAA3-1B18-43DF-B895-D8041FC1273D}" srcOrd="0" destOrd="0" presId="urn:microsoft.com/office/officeart/2018/2/layout/IconVerticalSolidList"/>
    <dgm:cxn modelId="{87E70533-A317-4C32-A118-8C5B7418F31F}" type="presParOf" srcId="{C59BC836-862D-4676-A214-5A730AAA2043}" destId="{F4D96113-F7B2-4426-B9C7-CB2B5DED6633}" srcOrd="1" destOrd="0" presId="urn:microsoft.com/office/officeart/2018/2/layout/IconVerticalSolidList"/>
    <dgm:cxn modelId="{DD0CCAB7-801A-4A89-BB5C-DBC96295D0C4}" type="presParOf" srcId="{C59BC836-862D-4676-A214-5A730AAA2043}" destId="{EA7C28A5-0D7B-4B52-9EB8-C8AC1B259404}" srcOrd="2" destOrd="0" presId="urn:microsoft.com/office/officeart/2018/2/layout/IconVerticalSolidList"/>
    <dgm:cxn modelId="{8A237503-50CE-40E7-BD8F-BF63EE03108C}" type="presParOf" srcId="{C59BC836-862D-4676-A214-5A730AAA2043}" destId="{5D535B55-F746-4E82-8D76-B7C049EF5A8D}" srcOrd="3" destOrd="0" presId="urn:microsoft.com/office/officeart/2018/2/layout/IconVerticalSolidList"/>
    <dgm:cxn modelId="{312BB873-6439-4D76-9443-6D18B96AFC12}" type="presParOf" srcId="{FFDCDBFA-8C5D-492C-95B4-7911DD414BDE}" destId="{FD0CBDFD-49D3-487F-AC8C-436366BBECB8}" srcOrd="1" destOrd="0" presId="urn:microsoft.com/office/officeart/2018/2/layout/IconVerticalSolidList"/>
    <dgm:cxn modelId="{06F163EC-9C53-4C2E-B047-E366E0A30F95}" type="presParOf" srcId="{FFDCDBFA-8C5D-492C-95B4-7911DD414BDE}" destId="{D1EA9C52-4967-4765-9120-987AF8C7E86C}" srcOrd="2" destOrd="0" presId="urn:microsoft.com/office/officeart/2018/2/layout/IconVerticalSolidList"/>
    <dgm:cxn modelId="{FE006F38-E9C8-4473-963B-FA84E32A3F99}" type="presParOf" srcId="{D1EA9C52-4967-4765-9120-987AF8C7E86C}" destId="{8D19EDDB-1D42-4E91-BC34-B9EACA4BA5C5}" srcOrd="0" destOrd="0" presId="urn:microsoft.com/office/officeart/2018/2/layout/IconVerticalSolidList"/>
    <dgm:cxn modelId="{51911DA1-87B3-4BE2-AA5E-39625B31978E}" type="presParOf" srcId="{D1EA9C52-4967-4765-9120-987AF8C7E86C}" destId="{AD42B999-52A8-4B1C-A51A-553573830790}" srcOrd="1" destOrd="0" presId="urn:microsoft.com/office/officeart/2018/2/layout/IconVerticalSolidList"/>
    <dgm:cxn modelId="{5FC3E5CE-A80D-40C2-BECC-FAFD302122D1}" type="presParOf" srcId="{D1EA9C52-4967-4765-9120-987AF8C7E86C}" destId="{9ADA26A4-3903-4405-B724-23A6E06C48C0}" srcOrd="2" destOrd="0" presId="urn:microsoft.com/office/officeart/2018/2/layout/IconVerticalSolidList"/>
    <dgm:cxn modelId="{54FD814C-E296-49AB-93B1-DA5B660FE717}" type="presParOf" srcId="{D1EA9C52-4967-4765-9120-987AF8C7E86C}" destId="{ACA82AD0-9FC9-44EF-BAA5-EA553D2D9690}" srcOrd="3" destOrd="0" presId="urn:microsoft.com/office/officeart/2018/2/layout/IconVerticalSolidList"/>
    <dgm:cxn modelId="{D51B5E0D-2310-43D0-8EDA-8D987C2091BE}" type="presParOf" srcId="{FFDCDBFA-8C5D-492C-95B4-7911DD414BDE}" destId="{DD9550E5-5886-46E9-B960-D7801215A87C}" srcOrd="3" destOrd="0" presId="urn:microsoft.com/office/officeart/2018/2/layout/IconVerticalSolidList"/>
    <dgm:cxn modelId="{26DA87A0-F542-47B7-AEA1-FA3A45A38F72}" type="presParOf" srcId="{FFDCDBFA-8C5D-492C-95B4-7911DD414BDE}" destId="{86A2C58D-1E17-4FE4-AFBB-1B212E7AC3B8}" srcOrd="4" destOrd="0" presId="urn:microsoft.com/office/officeart/2018/2/layout/IconVerticalSolidList"/>
    <dgm:cxn modelId="{862F3860-4190-476F-8C91-AC3D1C80625C}" type="presParOf" srcId="{86A2C58D-1E17-4FE4-AFBB-1B212E7AC3B8}" destId="{6B917D02-20FC-46A8-A64C-4FF9EF20A4BA}" srcOrd="0" destOrd="0" presId="urn:microsoft.com/office/officeart/2018/2/layout/IconVerticalSolidList"/>
    <dgm:cxn modelId="{E554EA1F-B555-4ED9-A02A-BBA908D038E1}" type="presParOf" srcId="{86A2C58D-1E17-4FE4-AFBB-1B212E7AC3B8}" destId="{F54FD4BE-6DF0-4B01-A787-673CB2AEEB92}" srcOrd="1" destOrd="0" presId="urn:microsoft.com/office/officeart/2018/2/layout/IconVerticalSolidList"/>
    <dgm:cxn modelId="{E17A5E08-0CB4-4926-92DC-85BD930AD5C3}" type="presParOf" srcId="{86A2C58D-1E17-4FE4-AFBB-1B212E7AC3B8}" destId="{8412CF3E-CBA5-480A-9D96-9A461BF1B939}" srcOrd="2" destOrd="0" presId="urn:microsoft.com/office/officeart/2018/2/layout/IconVerticalSolidList"/>
    <dgm:cxn modelId="{5C6E897D-8F2D-45BE-A1F8-8582BA3DD843}" type="presParOf" srcId="{86A2C58D-1E17-4FE4-AFBB-1B212E7AC3B8}" destId="{66A67771-1941-449B-B7AE-8C37439B5366}" srcOrd="3" destOrd="0" presId="urn:microsoft.com/office/officeart/2018/2/layout/IconVerticalSolidList"/>
    <dgm:cxn modelId="{0FDED0C9-595D-46FD-9833-66BFB6393E60}" type="presParOf" srcId="{FFDCDBFA-8C5D-492C-95B4-7911DD414BDE}" destId="{27240C89-2899-4E38-BD34-319CB6E4DCA7}" srcOrd="5" destOrd="0" presId="urn:microsoft.com/office/officeart/2018/2/layout/IconVerticalSolidList"/>
    <dgm:cxn modelId="{B8C4A3B7-F8E4-4C58-9A0C-65E69D150D61}" type="presParOf" srcId="{FFDCDBFA-8C5D-492C-95B4-7911DD414BDE}" destId="{A3948E42-748B-4419-9EF6-E97018AB1408}" srcOrd="6" destOrd="0" presId="urn:microsoft.com/office/officeart/2018/2/layout/IconVerticalSolidList"/>
    <dgm:cxn modelId="{3FD67E7F-35D4-441F-A7A5-A405249A656B}" type="presParOf" srcId="{A3948E42-748B-4419-9EF6-E97018AB1408}" destId="{A2462B6B-A914-4999-BF41-BC44ADB33308}" srcOrd="0" destOrd="0" presId="urn:microsoft.com/office/officeart/2018/2/layout/IconVerticalSolidList"/>
    <dgm:cxn modelId="{15BC240E-54D0-401B-AE3A-C521218509FD}" type="presParOf" srcId="{A3948E42-748B-4419-9EF6-E97018AB1408}" destId="{AA2E9C5C-A30F-4307-8A0F-FD4ECE6E8733}" srcOrd="1" destOrd="0" presId="urn:microsoft.com/office/officeart/2018/2/layout/IconVerticalSolidList"/>
    <dgm:cxn modelId="{1D51975F-AE8B-4991-8E68-2E0C40659AAC}" type="presParOf" srcId="{A3948E42-748B-4419-9EF6-E97018AB1408}" destId="{1B4A4014-30A5-41E3-A9AB-8B6E70F6E208}" srcOrd="2" destOrd="0" presId="urn:microsoft.com/office/officeart/2018/2/layout/IconVerticalSolidList"/>
    <dgm:cxn modelId="{FD683438-06D2-4020-9B0D-C2880FB6E0D3}" type="presParOf" srcId="{A3948E42-748B-4419-9EF6-E97018AB1408}" destId="{12B8FB22-92DC-4E0A-A185-0A7A9EDC852D}" srcOrd="3" destOrd="0" presId="urn:microsoft.com/office/officeart/2018/2/layout/IconVerticalSolidList"/>
    <dgm:cxn modelId="{C6EEAC16-D877-4FF9-8AE7-6420A8810866}" type="presParOf" srcId="{FFDCDBFA-8C5D-492C-95B4-7911DD414BDE}" destId="{3881A388-7131-4BD8-8AED-A4DC61B29662}" srcOrd="7" destOrd="0" presId="urn:microsoft.com/office/officeart/2018/2/layout/IconVerticalSolidList"/>
    <dgm:cxn modelId="{4F9E0E55-CD3A-448B-8F10-A3C1294A68CD}" type="presParOf" srcId="{FFDCDBFA-8C5D-492C-95B4-7911DD414BDE}" destId="{8EF5B700-0358-4399-A5D9-21694FC28261}" srcOrd="8" destOrd="0" presId="urn:microsoft.com/office/officeart/2018/2/layout/IconVerticalSolidList"/>
    <dgm:cxn modelId="{95628127-A30B-458B-AE44-EA1D022D3BB1}" type="presParOf" srcId="{8EF5B700-0358-4399-A5D9-21694FC28261}" destId="{26A71139-1BF8-4E02-BE21-AAE5E6BC10FC}" srcOrd="0" destOrd="0" presId="urn:microsoft.com/office/officeart/2018/2/layout/IconVerticalSolidList"/>
    <dgm:cxn modelId="{C704B814-B435-4534-B618-0AC603C33884}" type="presParOf" srcId="{8EF5B700-0358-4399-A5D9-21694FC28261}" destId="{980CA0E3-C52F-490F-BA00-3CBE99FD0362}" srcOrd="1" destOrd="0" presId="urn:microsoft.com/office/officeart/2018/2/layout/IconVerticalSolidList"/>
    <dgm:cxn modelId="{EBED9AD2-E87F-4006-A537-123570BF8F97}" type="presParOf" srcId="{8EF5B700-0358-4399-A5D9-21694FC28261}" destId="{B044245E-E78C-4AE4-9A92-3D6916EB0ECC}" srcOrd="2" destOrd="0" presId="urn:microsoft.com/office/officeart/2018/2/layout/IconVerticalSolidList"/>
    <dgm:cxn modelId="{2EB41631-DF8C-466F-A1A1-1F7A95DA5FC8}" type="presParOf" srcId="{8EF5B700-0358-4399-A5D9-21694FC28261}" destId="{CD24530B-BF10-4B15-B5B5-F804BED32440}" srcOrd="3" destOrd="0" presId="urn:microsoft.com/office/officeart/2018/2/layout/IconVerticalSolidList"/>
    <dgm:cxn modelId="{4FC62E8B-F024-4E11-9525-8839152D6485}" type="presParOf" srcId="{FFDCDBFA-8C5D-492C-95B4-7911DD414BDE}" destId="{542CB97E-92CE-4DDB-8AA5-58FD98786F53}" srcOrd="9" destOrd="0" presId="urn:microsoft.com/office/officeart/2018/2/layout/IconVerticalSolidList"/>
    <dgm:cxn modelId="{48805423-D416-40DB-BEFF-85F5F5A4A121}" type="presParOf" srcId="{FFDCDBFA-8C5D-492C-95B4-7911DD414BDE}" destId="{C7FFE6FE-F9BD-4719-824D-F69680B4026B}" srcOrd="10" destOrd="0" presId="urn:microsoft.com/office/officeart/2018/2/layout/IconVerticalSolidList"/>
    <dgm:cxn modelId="{EDEC7B77-BF38-4059-B630-664170339F13}" type="presParOf" srcId="{C7FFE6FE-F9BD-4719-824D-F69680B4026B}" destId="{8C71AB0F-CFE6-4329-BF5B-2B0AE5DAD99F}" srcOrd="0" destOrd="0" presId="urn:microsoft.com/office/officeart/2018/2/layout/IconVerticalSolidList"/>
    <dgm:cxn modelId="{260B5DA5-97A9-4B54-AACD-19D2C2247852}" type="presParOf" srcId="{C7FFE6FE-F9BD-4719-824D-F69680B4026B}" destId="{0F7D988F-4DF9-419A-BAF5-190F2012ACA6}" srcOrd="1" destOrd="0" presId="urn:microsoft.com/office/officeart/2018/2/layout/IconVerticalSolidList"/>
    <dgm:cxn modelId="{2958B356-9412-4532-9663-0F794F7D7D0C}" type="presParOf" srcId="{C7FFE6FE-F9BD-4719-824D-F69680B4026B}" destId="{807D2E69-F413-4D7B-9E1F-931FBA79EBE5}" srcOrd="2" destOrd="0" presId="urn:microsoft.com/office/officeart/2018/2/layout/IconVerticalSolidList"/>
    <dgm:cxn modelId="{F9E279A5-D293-448E-BD4F-0C4231C46081}" type="presParOf" srcId="{C7FFE6FE-F9BD-4719-824D-F69680B4026B}" destId="{ED20F86F-71EB-4346-BAD7-DB133C0AAA23}" srcOrd="3" destOrd="0" presId="urn:microsoft.com/office/officeart/2018/2/layout/IconVerticalSolidList"/>
    <dgm:cxn modelId="{C8E212F7-8068-42B1-A08B-A4347C72DEAA}" type="presParOf" srcId="{FFDCDBFA-8C5D-492C-95B4-7911DD414BDE}" destId="{B9F8CFED-8F42-498E-BEE5-1F52F30B359F}" srcOrd="11" destOrd="0" presId="urn:microsoft.com/office/officeart/2018/2/layout/IconVerticalSolidList"/>
    <dgm:cxn modelId="{06E6B6B1-53FF-42AC-9A18-06D12D3173D2}" type="presParOf" srcId="{FFDCDBFA-8C5D-492C-95B4-7911DD414BDE}" destId="{ADB29A05-F47C-4268-8C22-56353E4F7A81}" srcOrd="12" destOrd="0" presId="urn:microsoft.com/office/officeart/2018/2/layout/IconVerticalSolidList"/>
    <dgm:cxn modelId="{B055A9DE-A8AB-4E86-AF21-635FBE1773FB}" type="presParOf" srcId="{ADB29A05-F47C-4268-8C22-56353E4F7A81}" destId="{F6B9187A-4DA5-425E-8FB4-212877B170C1}" srcOrd="0" destOrd="0" presId="urn:microsoft.com/office/officeart/2018/2/layout/IconVerticalSolidList"/>
    <dgm:cxn modelId="{854A4E20-A4A9-47FA-92E1-1A9A587F95C5}" type="presParOf" srcId="{ADB29A05-F47C-4268-8C22-56353E4F7A81}" destId="{B793FF12-AF2E-4CE5-9F02-5B9C2013B169}" srcOrd="1" destOrd="0" presId="urn:microsoft.com/office/officeart/2018/2/layout/IconVerticalSolidList"/>
    <dgm:cxn modelId="{C23FC0E6-B5AD-4573-BDAD-0A3794799A65}" type="presParOf" srcId="{ADB29A05-F47C-4268-8C22-56353E4F7A81}" destId="{F26584E2-8841-47AE-9432-A863F3C33443}" srcOrd="2" destOrd="0" presId="urn:microsoft.com/office/officeart/2018/2/layout/IconVerticalSolidList"/>
    <dgm:cxn modelId="{E90A0CFF-259A-45E9-BA43-D9130B1AAD4E}" type="presParOf" srcId="{ADB29A05-F47C-4268-8C22-56353E4F7A81}" destId="{97584868-D359-41BD-88A4-A0767DC6FB7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F37B23-2D67-4B25-B9D5-2F50986D232E}">
      <dsp:nvSpPr>
        <dsp:cNvPr id="0" name=""/>
        <dsp:cNvSpPr/>
      </dsp:nvSpPr>
      <dsp:spPr>
        <a:xfrm>
          <a:off x="898829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C2B831-B7A5-49F5-B830-DCC03CEB013A}">
      <dsp:nvSpPr>
        <dsp:cNvPr id="0" name=""/>
        <dsp:cNvSpPr/>
      </dsp:nvSpPr>
      <dsp:spPr>
        <a:xfrm>
          <a:off x="1112262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C3F49-03C5-448A-9355-5942E45D4F93}">
      <dsp:nvSpPr>
        <dsp:cNvPr id="0" name=""/>
        <dsp:cNvSpPr/>
      </dsp:nvSpPr>
      <dsp:spPr>
        <a:xfrm>
          <a:off x="57867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Develop a personalized food recommendation system for diabetic users.</a:t>
          </a:r>
          <a:endParaRPr lang="en-US" sz="1100" kern="1200"/>
        </a:p>
      </dsp:txBody>
      <dsp:txXfrm>
        <a:off x="578678" y="1313725"/>
        <a:ext cx="1641796" cy="656718"/>
      </dsp:txXfrm>
    </dsp:sp>
    <dsp:sp modelId="{F451D1A0-2A34-4787-BEAE-07952FC6692E}">
      <dsp:nvSpPr>
        <dsp:cNvPr id="0" name=""/>
        <dsp:cNvSpPr/>
      </dsp:nvSpPr>
      <dsp:spPr>
        <a:xfrm>
          <a:off x="2827940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331612-8FB0-4588-8237-589641F9E848}">
      <dsp:nvSpPr>
        <dsp:cNvPr id="0" name=""/>
        <dsp:cNvSpPr/>
      </dsp:nvSpPr>
      <dsp:spPr>
        <a:xfrm>
          <a:off x="3041374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22F9B-B871-4501-BA14-C22779032818}">
      <dsp:nvSpPr>
        <dsp:cNvPr id="0" name=""/>
        <dsp:cNvSpPr/>
      </dsp:nvSpPr>
      <dsp:spPr>
        <a:xfrm>
          <a:off x="2507790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Evaluate meals using nutritional information and Glycemic Load.</a:t>
          </a:r>
          <a:endParaRPr lang="en-US" sz="1100" kern="1200"/>
        </a:p>
      </dsp:txBody>
      <dsp:txXfrm>
        <a:off x="2507790" y="1313725"/>
        <a:ext cx="1641796" cy="656718"/>
      </dsp:txXfrm>
    </dsp:sp>
    <dsp:sp modelId="{C603759A-1806-4F80-8232-2B12FB63853E}">
      <dsp:nvSpPr>
        <dsp:cNvPr id="0" name=""/>
        <dsp:cNvSpPr/>
      </dsp:nvSpPr>
      <dsp:spPr>
        <a:xfrm>
          <a:off x="4757051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EB1B21-F978-47DE-A2A7-8D817A0CA6DF}">
      <dsp:nvSpPr>
        <dsp:cNvPr id="0" name=""/>
        <dsp:cNvSpPr/>
      </dsp:nvSpPr>
      <dsp:spPr>
        <a:xfrm>
          <a:off x="4970485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67F8A-D8D5-4B72-BB17-FCBAAF1989CC}">
      <dsp:nvSpPr>
        <dsp:cNvPr id="0" name=""/>
        <dsp:cNvSpPr/>
      </dsp:nvSpPr>
      <dsp:spPr>
        <a:xfrm>
          <a:off x="4436901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Filter meals that violate dietary restrictions or health constraints.</a:t>
          </a:r>
          <a:endParaRPr lang="en-US" sz="1100" kern="1200"/>
        </a:p>
      </dsp:txBody>
      <dsp:txXfrm>
        <a:off x="4436901" y="1313725"/>
        <a:ext cx="1641796" cy="656718"/>
      </dsp:txXfrm>
    </dsp:sp>
    <dsp:sp modelId="{F853AA77-E158-4727-A69D-ED0A191528B1}">
      <dsp:nvSpPr>
        <dsp:cNvPr id="0" name=""/>
        <dsp:cNvSpPr/>
      </dsp:nvSpPr>
      <dsp:spPr>
        <a:xfrm>
          <a:off x="6686163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FCDEA1-B40C-4E7B-9662-F0B6B8A69F6B}">
      <dsp:nvSpPr>
        <dsp:cNvPr id="0" name=""/>
        <dsp:cNvSpPr/>
      </dsp:nvSpPr>
      <dsp:spPr>
        <a:xfrm>
          <a:off x="6899596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3F6768-0B96-4396-9A4D-AD6CA685E1F0}">
      <dsp:nvSpPr>
        <dsp:cNvPr id="0" name=""/>
        <dsp:cNvSpPr/>
      </dsp:nvSpPr>
      <dsp:spPr>
        <a:xfrm>
          <a:off x="6366012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Rank suitable meals using Multi-Criteria Decision Making (MCDM).</a:t>
          </a:r>
          <a:endParaRPr lang="en-US" sz="1100" kern="1200"/>
        </a:p>
      </dsp:txBody>
      <dsp:txXfrm>
        <a:off x="6366012" y="1313725"/>
        <a:ext cx="1641796" cy="656718"/>
      </dsp:txXfrm>
    </dsp:sp>
    <dsp:sp modelId="{B08AC7EE-7993-4D2D-A92A-7EA5138BF052}">
      <dsp:nvSpPr>
        <dsp:cNvPr id="0" name=""/>
        <dsp:cNvSpPr/>
      </dsp:nvSpPr>
      <dsp:spPr>
        <a:xfrm>
          <a:off x="8615274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A19102-48F7-4FFC-B200-393E498EB174}">
      <dsp:nvSpPr>
        <dsp:cNvPr id="0" name=""/>
        <dsp:cNvSpPr/>
      </dsp:nvSpPr>
      <dsp:spPr>
        <a:xfrm>
          <a:off x="8828708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49871A-5434-4888-A7DE-D99F2C15F4A0}">
      <dsp:nvSpPr>
        <dsp:cNvPr id="0" name=""/>
        <dsp:cNvSpPr/>
      </dsp:nvSpPr>
      <dsp:spPr>
        <a:xfrm>
          <a:off x="829512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Provide explainable recommendations and diabetic-friendly ordering instructions.</a:t>
          </a:r>
          <a:endParaRPr lang="en-US" sz="1100" kern="1200"/>
        </a:p>
      </dsp:txBody>
      <dsp:txXfrm>
        <a:off x="8295124" y="1313725"/>
        <a:ext cx="1641796" cy="656718"/>
      </dsp:txXfrm>
    </dsp:sp>
    <dsp:sp modelId="{EB459789-0BF4-4BA4-875B-B03386D376C5}">
      <dsp:nvSpPr>
        <dsp:cNvPr id="0" name=""/>
        <dsp:cNvSpPr/>
      </dsp:nvSpPr>
      <dsp:spPr>
        <a:xfrm>
          <a:off x="4757051" y="2380893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E5457C-BFB1-4C82-A88F-4E054AAF2E87}">
      <dsp:nvSpPr>
        <dsp:cNvPr id="0" name=""/>
        <dsp:cNvSpPr/>
      </dsp:nvSpPr>
      <dsp:spPr>
        <a:xfrm>
          <a:off x="4970485" y="2594327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A559C-D2D6-4A44-92E5-1A9E9D6CB8D3}">
      <dsp:nvSpPr>
        <dsp:cNvPr id="0" name=""/>
        <dsp:cNvSpPr/>
      </dsp:nvSpPr>
      <dsp:spPr>
        <a:xfrm>
          <a:off x="4436901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Use post-meal glucose feedback as a basis for future personalization.</a:t>
          </a:r>
          <a:endParaRPr lang="en-US" sz="1100" kern="1200"/>
        </a:p>
      </dsp:txBody>
      <dsp:txXfrm>
        <a:off x="4436901" y="3694331"/>
        <a:ext cx="1641796" cy="6567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DCAA3-1B18-43DF-B895-D8041FC1273D}">
      <dsp:nvSpPr>
        <dsp:cNvPr id="0" name=""/>
        <dsp:cNvSpPr/>
      </dsp:nvSpPr>
      <dsp:spPr>
        <a:xfrm>
          <a:off x="0" y="372"/>
          <a:ext cx="10515600" cy="5125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96113-F7B2-4426-B9C7-CB2B5DED6633}">
      <dsp:nvSpPr>
        <dsp:cNvPr id="0" name=""/>
        <dsp:cNvSpPr/>
      </dsp:nvSpPr>
      <dsp:spPr>
        <a:xfrm>
          <a:off x="155050" y="115698"/>
          <a:ext cx="281909" cy="2819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35B55-F746-4E82-8D76-B7C049EF5A8D}">
      <dsp:nvSpPr>
        <dsp:cNvPr id="0" name=""/>
        <dsp:cNvSpPr/>
      </dsp:nvSpPr>
      <dsp:spPr>
        <a:xfrm>
          <a:off x="592009" y="372"/>
          <a:ext cx="9923590" cy="512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246" tIns="54246" rIns="54246" bIns="5424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The novelty is not simply recommending food for diabetic users; it is integrating multiple decision factors into a restaurant-oriented workflow.</a:t>
          </a:r>
          <a:endParaRPr lang="en-US" sz="1400" kern="1200"/>
        </a:p>
      </dsp:txBody>
      <dsp:txXfrm>
        <a:off x="592009" y="372"/>
        <a:ext cx="9923590" cy="512562"/>
      </dsp:txXfrm>
    </dsp:sp>
    <dsp:sp modelId="{8D19EDDB-1D42-4E91-BC34-B9EACA4BA5C5}">
      <dsp:nvSpPr>
        <dsp:cNvPr id="0" name=""/>
        <dsp:cNvSpPr/>
      </dsp:nvSpPr>
      <dsp:spPr>
        <a:xfrm>
          <a:off x="0" y="641075"/>
          <a:ext cx="10515600" cy="5125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42B999-52A8-4B1C-A51A-553573830790}">
      <dsp:nvSpPr>
        <dsp:cNvPr id="0" name=""/>
        <dsp:cNvSpPr/>
      </dsp:nvSpPr>
      <dsp:spPr>
        <a:xfrm>
          <a:off x="155050" y="756401"/>
          <a:ext cx="281909" cy="2819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A82AD0-9FC9-44EF-BAA5-EA553D2D9690}">
      <dsp:nvSpPr>
        <dsp:cNvPr id="0" name=""/>
        <dsp:cNvSpPr/>
      </dsp:nvSpPr>
      <dsp:spPr>
        <a:xfrm>
          <a:off x="592009" y="641075"/>
          <a:ext cx="9923590" cy="512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246" tIns="54246" rIns="54246" bIns="5424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Health + Restaurant Context: Combines patient health information with restaurant price and geographic distance.</a:t>
          </a:r>
          <a:endParaRPr lang="en-US" sz="1400" kern="1200"/>
        </a:p>
      </dsp:txBody>
      <dsp:txXfrm>
        <a:off x="592009" y="641075"/>
        <a:ext cx="9923590" cy="512562"/>
      </dsp:txXfrm>
    </dsp:sp>
    <dsp:sp modelId="{6B917D02-20FC-46A8-A64C-4FF9EF20A4BA}">
      <dsp:nvSpPr>
        <dsp:cNvPr id="0" name=""/>
        <dsp:cNvSpPr/>
      </dsp:nvSpPr>
      <dsp:spPr>
        <a:xfrm>
          <a:off x="0" y="1281778"/>
          <a:ext cx="10515600" cy="5125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4FD4BE-6DF0-4B01-A787-673CB2AEEB92}">
      <dsp:nvSpPr>
        <dsp:cNvPr id="0" name=""/>
        <dsp:cNvSpPr/>
      </dsp:nvSpPr>
      <dsp:spPr>
        <a:xfrm>
          <a:off x="155050" y="1397104"/>
          <a:ext cx="281909" cy="2819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A67771-1941-449B-B7AE-8C37439B5366}">
      <dsp:nvSpPr>
        <dsp:cNvPr id="0" name=""/>
        <dsp:cNvSpPr/>
      </dsp:nvSpPr>
      <dsp:spPr>
        <a:xfrm>
          <a:off x="592009" y="1281778"/>
          <a:ext cx="9923590" cy="512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246" tIns="54246" rIns="54246" bIns="5424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GL-Based Evaluation: Uses a measurable glycemic criterion instead of relying only on generic healthy-food labels.</a:t>
          </a:r>
          <a:endParaRPr lang="en-US" sz="1400" kern="1200"/>
        </a:p>
      </dsp:txBody>
      <dsp:txXfrm>
        <a:off x="592009" y="1281778"/>
        <a:ext cx="9923590" cy="512562"/>
      </dsp:txXfrm>
    </dsp:sp>
    <dsp:sp modelId="{A2462B6B-A914-4999-BF41-BC44ADB33308}">
      <dsp:nvSpPr>
        <dsp:cNvPr id="0" name=""/>
        <dsp:cNvSpPr/>
      </dsp:nvSpPr>
      <dsp:spPr>
        <a:xfrm>
          <a:off x="0" y="1922480"/>
          <a:ext cx="10515600" cy="5125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2E9C5C-A30F-4307-8A0F-FD4ECE6E8733}">
      <dsp:nvSpPr>
        <dsp:cNvPr id="0" name=""/>
        <dsp:cNvSpPr/>
      </dsp:nvSpPr>
      <dsp:spPr>
        <a:xfrm>
          <a:off x="155050" y="2037807"/>
          <a:ext cx="281909" cy="2819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8FB22-92DC-4E0A-A185-0A7A9EDC852D}">
      <dsp:nvSpPr>
        <dsp:cNvPr id="0" name=""/>
        <dsp:cNvSpPr/>
      </dsp:nvSpPr>
      <dsp:spPr>
        <a:xfrm>
          <a:off x="592009" y="1922480"/>
          <a:ext cx="9923590" cy="512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246" tIns="54246" rIns="54246" bIns="5424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MCDM-Based Ranking: Balances competing health, budget, and distance requirements.</a:t>
          </a:r>
          <a:endParaRPr lang="en-US" sz="1400" kern="1200"/>
        </a:p>
      </dsp:txBody>
      <dsp:txXfrm>
        <a:off x="592009" y="1922480"/>
        <a:ext cx="9923590" cy="512562"/>
      </dsp:txXfrm>
    </dsp:sp>
    <dsp:sp modelId="{26A71139-1BF8-4E02-BE21-AAE5E6BC10FC}">
      <dsp:nvSpPr>
        <dsp:cNvPr id="0" name=""/>
        <dsp:cNvSpPr/>
      </dsp:nvSpPr>
      <dsp:spPr>
        <a:xfrm>
          <a:off x="0" y="2563183"/>
          <a:ext cx="10515600" cy="51256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0CA0E3-C52F-490F-BA00-3CBE99FD0362}">
      <dsp:nvSpPr>
        <dsp:cNvPr id="0" name=""/>
        <dsp:cNvSpPr/>
      </dsp:nvSpPr>
      <dsp:spPr>
        <a:xfrm>
          <a:off x="155050" y="2678510"/>
          <a:ext cx="281909" cy="2819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4530B-BF10-4B15-B5B5-F804BED32440}">
      <dsp:nvSpPr>
        <dsp:cNvPr id="0" name=""/>
        <dsp:cNvSpPr/>
      </dsp:nvSpPr>
      <dsp:spPr>
        <a:xfrm>
          <a:off x="592009" y="2563183"/>
          <a:ext cx="9923590" cy="512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246" tIns="54246" rIns="54246" bIns="5424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Explainability: Shows the factors contributing to a meal's ranking.</a:t>
          </a:r>
          <a:endParaRPr lang="en-US" sz="1400" kern="1200"/>
        </a:p>
      </dsp:txBody>
      <dsp:txXfrm>
        <a:off x="592009" y="2563183"/>
        <a:ext cx="9923590" cy="512562"/>
      </dsp:txXfrm>
    </dsp:sp>
    <dsp:sp modelId="{8C71AB0F-CFE6-4329-BF5B-2B0AE5DAD99F}">
      <dsp:nvSpPr>
        <dsp:cNvPr id="0" name=""/>
        <dsp:cNvSpPr/>
      </dsp:nvSpPr>
      <dsp:spPr>
        <a:xfrm>
          <a:off x="0" y="3203886"/>
          <a:ext cx="10515600" cy="5125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7D988F-4DF9-419A-BAF5-190F2012ACA6}">
      <dsp:nvSpPr>
        <dsp:cNvPr id="0" name=""/>
        <dsp:cNvSpPr/>
      </dsp:nvSpPr>
      <dsp:spPr>
        <a:xfrm>
          <a:off x="155050" y="3319213"/>
          <a:ext cx="281909" cy="2819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0F86F-71EB-4346-BAD7-DB133C0AAA23}">
      <dsp:nvSpPr>
        <dsp:cNvPr id="0" name=""/>
        <dsp:cNvSpPr/>
      </dsp:nvSpPr>
      <dsp:spPr>
        <a:xfrm>
          <a:off x="592009" y="3203886"/>
          <a:ext cx="9923590" cy="512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246" tIns="54246" rIns="54246" bIns="5424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Smart Ordering: Connects recommendations to practical ordering instructions.</a:t>
          </a:r>
          <a:endParaRPr lang="en-US" sz="1400" kern="1200"/>
        </a:p>
      </dsp:txBody>
      <dsp:txXfrm>
        <a:off x="592009" y="3203886"/>
        <a:ext cx="9923590" cy="512562"/>
      </dsp:txXfrm>
    </dsp:sp>
    <dsp:sp modelId="{F6B9187A-4DA5-425E-8FB4-212877B170C1}">
      <dsp:nvSpPr>
        <dsp:cNvPr id="0" name=""/>
        <dsp:cNvSpPr/>
      </dsp:nvSpPr>
      <dsp:spPr>
        <a:xfrm>
          <a:off x="0" y="3844589"/>
          <a:ext cx="10515600" cy="5125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93FF12-AF2E-4CE5-9F02-5B9C2013B169}">
      <dsp:nvSpPr>
        <dsp:cNvPr id="0" name=""/>
        <dsp:cNvSpPr/>
      </dsp:nvSpPr>
      <dsp:spPr>
        <a:xfrm>
          <a:off x="155050" y="3959915"/>
          <a:ext cx="281909" cy="2819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584868-D359-41BD-88A4-A0767DC6FB7E}">
      <dsp:nvSpPr>
        <dsp:cNvPr id="0" name=""/>
        <dsp:cNvSpPr/>
      </dsp:nvSpPr>
      <dsp:spPr>
        <a:xfrm>
          <a:off x="592009" y="3844589"/>
          <a:ext cx="9923590" cy="512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246" tIns="54246" rIns="54246" bIns="5424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Feedback-Based Personalization: Uses recorded post-meal glucose readings as a basis for future improvements.</a:t>
          </a:r>
          <a:endParaRPr lang="en-US" sz="1400" kern="1200"/>
        </a:p>
      </dsp:txBody>
      <dsp:txXfrm>
        <a:off x="592009" y="3844589"/>
        <a:ext cx="9923590" cy="512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ECCCB-5C97-215F-BF5D-8C1941A8C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7861B-B539-BDE3-089B-884F645DC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2D8C1-F75C-4E9C-3F84-725309EB3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F2AA-2642-47F8-8D5B-E90CC9E0FCE3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3BB2D-C090-7FCF-B0C6-80F9970F6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BC04-24B1-0D4D-CFE9-7A06756D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AFD1-0BAE-4A15-8FDD-47E339E3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049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7877F-D182-5405-DB38-8BB93702F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54CBF-69F8-BC92-934E-5BE761DB5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12D6F-C112-35F2-9346-61578F3FE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F2AA-2642-47F8-8D5B-E90CC9E0FCE3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A34EC-E948-1F0A-71D8-DF6FFF97A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788BF-6525-4FB4-4CC6-4F721AC9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AFD1-0BAE-4A15-8FDD-47E339E3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41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6EFBB-04B3-2D8C-147F-D5EE3A86D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87238-F238-C8D1-0ECA-1FC854754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9957B-68B4-72BC-3690-55B65B1AE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F2AA-2642-47F8-8D5B-E90CC9E0FCE3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9699D-4B3D-D9D5-8713-CB22888F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23226-95D0-A4DF-A976-C3436763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AFD1-0BAE-4A15-8FDD-47E339E3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14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91C0-27CD-F4E9-FC43-0A0202D3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6A34A-E66E-AF13-82C0-A51084497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4DD0E-D3FE-C739-DCE8-DBA4EFB9F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DC46D-75B6-1D6A-7724-365531D1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F2AA-2642-47F8-8D5B-E90CC9E0FCE3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24026-5908-4D96-1FC2-4E28D9B3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4A03A-14FF-9FCC-F636-FCEBF6BD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AFD1-0BAE-4A15-8FDD-47E339E3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63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C6F4-855F-FE13-084D-E1D8434E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00E9C-7D6F-F750-D4BB-A79CB9F9F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066758-6114-B339-0862-723B2CE71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77FCD9-1B81-171F-00AD-FF750AF990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E1C84B-C9F4-FEE4-6647-99B2F70833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BA0A2-DE25-1A25-D20D-316BEA5D9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F2AA-2642-47F8-8D5B-E90CC9E0FCE3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2FC414-7DD0-3D14-379B-4E74A7830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732FBA-382D-BC82-2E42-8CB71F9FE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AFD1-0BAE-4A15-8FDD-47E339E3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976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69F5-2939-934D-CFB2-DC56DFF17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907079-C92D-5511-B5E0-5768461D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F2AA-2642-47F8-8D5B-E90CC9E0FCE3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DAC17C-B93E-DD4C-3353-F9ED781D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DB18F-00A0-D592-AD87-699C0BCE6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AFD1-0BAE-4A15-8FDD-47E339E3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032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A604A8-89A9-3966-D2A8-B7BE97752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F2AA-2642-47F8-8D5B-E90CC9E0FCE3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968EF4-E88B-9905-379B-78EA82566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15E2C-85A5-7794-A562-504BD12CF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AFD1-0BAE-4A15-8FDD-47E339E3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886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E47B0-B016-1BEB-90BB-23EEE08DE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25D88-167A-6691-C4D1-0E98420AB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8088D-5068-6D32-EDB0-C4B83BE3F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0EF1D-16D2-9C5C-0800-AFCA192A7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F2AA-2642-47F8-8D5B-E90CC9E0FCE3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47BE0-2AFB-FE3C-860F-51B0036CD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B28A3-B426-D631-DCED-14C46C98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AFD1-0BAE-4A15-8FDD-47E339E3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5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87726-5E95-43B5-586B-E37E70BEB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491152-D358-5E33-F759-5FF3254405B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6FD72-6DC3-D405-C3BE-C6E0C9184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B5E4C-B0CC-E504-DB94-A3F969964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F2AA-2642-47F8-8D5B-E90CC9E0FCE3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F818D-337E-C4F6-1D36-51ED683D1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E411B-DCDB-69FE-F712-47B0B04E7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AFD1-0BAE-4A15-8FDD-47E339E3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541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8F6F7-2378-7B28-7E96-AF3991835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CF8B2-A179-5E13-1824-6F24027AE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6996D-A72C-6FE9-8F5C-280CD7C56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F2AA-2642-47F8-8D5B-E90CC9E0FCE3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6D706-6CD3-E21B-DEDE-586B49E5E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3D8AD-E645-7A04-31BF-2C88CFA2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AFD1-0BAE-4A15-8FDD-47E339E3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341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5BDA5F-18D9-AE89-0ED3-986703CCB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8C1E02-ADCA-16F1-1587-DAAEAB26A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AAD20-3243-27F9-3983-892424053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CF2AA-2642-47F8-8D5B-E90CC9E0FCE3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790C1-9232-B88D-53A0-E5051B1C4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6CD0F-D2E3-6108-6E5A-EA41EE05A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AFD1-0BAE-4A15-8FDD-47E339E3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3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873294-8EE1-9339-3DE4-74F70A7D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CD302-97C5-1DAE-2EF9-D909444BF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D9AC9-E14A-9309-6B08-0A69CAFD04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6CF2AA-2642-47F8-8D5B-E90CC9E0FCE3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3888C-1EAA-5705-E9C2-07BC0F627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28978-A448-C3F4-0233-99384ECFA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BAFD1-0BAE-4A15-8FDD-47E339E3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25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47C18-7775-22CE-F1AC-FE5CC1968B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sz="3600" b="1" dirty="0"/>
              <a:t>DiaBite.ai</a:t>
            </a:r>
            <a:br>
              <a:rPr lang="en-IN" sz="3600" b="1" dirty="0"/>
            </a:br>
            <a:r>
              <a:rPr lang="en-IN" sz="3600" b="1" dirty="0"/>
              <a:t>A Context-Aware Diabetic Food Recommendation and Smart Ordering System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BAB2C-A350-5ADD-4F17-307BDD7E4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9638" y="3185652"/>
            <a:ext cx="8888361" cy="2072148"/>
          </a:xfrm>
        </p:spPr>
        <p:txBody>
          <a:bodyPr/>
          <a:lstStyle/>
          <a:p>
            <a:r>
              <a:rPr lang="en-IN" dirty="0"/>
              <a:t>Presented by: Narasimha Purna K (23MIA1136)</a:t>
            </a:r>
          </a:p>
          <a:p>
            <a:r>
              <a:rPr lang="en-IN" dirty="0"/>
              <a:t>                                     Vallurupalli </a:t>
            </a:r>
            <a:r>
              <a:rPr lang="en-IN" dirty="0" err="1"/>
              <a:t>Manoghna</a:t>
            </a:r>
            <a:r>
              <a:rPr lang="en-IN" dirty="0"/>
              <a:t>(23MIA1154)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9380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ariety of fresh salads">
            <a:extLst>
              <a:ext uri="{FF2B5EF4-FFF2-40B4-BE49-F238E27FC236}">
                <a16:creationId xmlns:a16="http://schemas.microsoft.com/office/drawing/2014/main" id="{93B8DA28-C3FC-1876-EF25-6545D91367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53" r="24981" b="-1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9D679B-521F-D1F4-2B6F-88071A7C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IN" sz="4000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A7C55-3F5E-427A-EBDC-95D597DFB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pPr lvl="0"/>
            <a:r>
              <a:rPr lang="en-IN" sz="1600" dirty="0"/>
              <a:t>Diabetes requires careful food selection and blood glucose management.</a:t>
            </a:r>
          </a:p>
          <a:p>
            <a:pPr lvl="0"/>
            <a:r>
              <a:rPr lang="en-IN" sz="1600" dirty="0"/>
              <a:t>Conventional food delivery apps mainly focus on price, ratings, popularity, and preferences.</a:t>
            </a:r>
          </a:p>
          <a:p>
            <a:pPr lvl="0"/>
            <a:r>
              <a:rPr lang="en-IN" sz="1600" dirty="0"/>
              <a:t>These factors do not adequately consider individual health requirements.</a:t>
            </a:r>
          </a:p>
          <a:p>
            <a:pPr lvl="0"/>
            <a:r>
              <a:rPr lang="en-IN" sz="1600" dirty="0"/>
              <a:t>DiaBite.ai recommends meals by combining nutritional information, </a:t>
            </a:r>
            <a:r>
              <a:rPr lang="en-IN" sz="1600" dirty="0" err="1"/>
              <a:t>Glycemic</a:t>
            </a:r>
            <a:r>
              <a:rPr lang="en-IN" sz="1600" dirty="0"/>
              <a:t> Load (GL), budget, and restaurant distance.</a:t>
            </a:r>
          </a:p>
          <a:p>
            <a:pPr lvl="0"/>
            <a:r>
              <a:rPr lang="en-IN" sz="1600" dirty="0"/>
              <a:t>The system also provides smart ordering instructions and post-meal glucose feedback.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82878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Fruits and vegetables in bags">
            <a:extLst>
              <a:ext uri="{FF2B5EF4-FFF2-40B4-BE49-F238E27FC236}">
                <a16:creationId xmlns:a16="http://schemas.microsoft.com/office/drawing/2014/main" id="{9FF4654E-1610-FC29-5CA2-D4FE29F22F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b="15730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06751B-1807-747B-1161-BACE3406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96E48-DD9E-1E19-DC64-341F786A1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lvl="0"/>
            <a:r>
              <a:rPr lang="en-IN" sz="2400">
                <a:solidFill>
                  <a:srgbClr val="FFFFFF"/>
                </a:solidFill>
              </a:rPr>
              <a:t>Existing food delivery platforms do not sufficiently prioritize diabetic users' nutritional requirements.</a:t>
            </a:r>
          </a:p>
          <a:p>
            <a:pPr lvl="0"/>
            <a:r>
              <a:rPr lang="en-IN" sz="2400">
                <a:solidFill>
                  <a:srgbClr val="FFFFFF"/>
                </a:solidFill>
              </a:rPr>
              <a:t>Meals with similar prices and ratings may have different carbohydrate content and Glycemic Load.</a:t>
            </a:r>
          </a:p>
          <a:p>
            <a:pPr lvl="0"/>
            <a:r>
              <a:rPr lang="en-IN" sz="2400">
                <a:solidFill>
                  <a:srgbClr val="FFFFFF"/>
                </a:solidFill>
              </a:rPr>
              <a:t>Users may struggle to balance health requirements, affordability, and restaurant proximity.</a:t>
            </a:r>
          </a:p>
          <a:p>
            <a:pPr lvl="0"/>
            <a:r>
              <a:rPr lang="en-IN" sz="2400">
                <a:solidFill>
                  <a:srgbClr val="FFFFFF"/>
                </a:solidFill>
              </a:rPr>
              <a:t>Most systems do not combine health-aware recommendations with ordering support and feedback in one workflow.</a:t>
            </a:r>
          </a:p>
          <a:p>
            <a:r>
              <a:rPr lang="en-IN" sz="2400" b="1">
                <a:solidFill>
                  <a:srgbClr val="FFFFFF"/>
                </a:solidFill>
              </a:rPr>
              <a:t>Problem to solve</a:t>
            </a:r>
            <a:r>
              <a:rPr lang="en-IN" sz="2400">
                <a:solidFill>
                  <a:srgbClr val="FFFFFF"/>
                </a:solidFill>
              </a:rPr>
              <a:t>: How can we recommend suitable restaurant meals for diabetic users while considering health, budget, and distance?</a:t>
            </a:r>
          </a:p>
          <a:p>
            <a:endParaRPr lang="en-IN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626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3F1B89-5C6E-3771-32FA-0D9E292103C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530" b="132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69EF91-97E4-F788-8810-D80B9EE8C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97B4BE-4129-C0F7-9B8D-155FDF5196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23967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67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C2704C-FD28-D7E1-2EC7-525A309F8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AE" sz="8000" b="1" dirty="0">
                <a:solidFill>
                  <a:srgbClr val="FFFFFF"/>
                </a:solidFill>
              </a:rPr>
              <a:t>Dataset and Data Sources</a:t>
            </a:r>
            <a:br>
              <a:rPr lang="en-AE" sz="8000" b="1" dirty="0">
                <a:solidFill>
                  <a:srgbClr val="FFFFFF"/>
                </a:solidFill>
              </a:rPr>
            </a:br>
            <a:endParaRPr lang="en-AE" sz="8000" dirty="0">
              <a:solidFill>
                <a:srgbClr val="FFFFFF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50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D2845-E068-AB92-B7ED-566623A33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AE" sz="1400" b="1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AE" sz="1400" b="1" dirty="0">
                <a:solidFill>
                  <a:schemeClr val="tx1">
                    <a:alpha val="80000"/>
                  </a:schemeClr>
                </a:solidFill>
              </a:rPr>
              <a:t>1. Indian Food Composition Tables (IFCT 2017)</a:t>
            </a:r>
            <a:endParaRPr lang="en-AE" sz="1400" dirty="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AE" sz="1400" dirty="0">
                <a:solidFill>
                  <a:schemeClr val="tx1">
                    <a:alpha val="80000"/>
                  </a:schemeClr>
                </a:solidFill>
              </a:rPr>
              <a:t>Published by ICMR–National Institute of Nutrition (ICMR–NIN).</a:t>
            </a:r>
          </a:p>
          <a:p>
            <a:pPr lvl="0"/>
            <a:r>
              <a:rPr lang="en-AE" sz="1400" dirty="0">
                <a:solidFill>
                  <a:schemeClr val="tx1">
                    <a:alpha val="80000"/>
                  </a:schemeClr>
                </a:solidFill>
              </a:rPr>
              <a:t>Provides nutritional composition data for Indian foods.</a:t>
            </a:r>
          </a:p>
          <a:p>
            <a:pPr lvl="0"/>
            <a:r>
              <a:rPr lang="en-AE" sz="1400" dirty="0">
                <a:solidFill>
                  <a:schemeClr val="tx1">
                    <a:alpha val="80000"/>
                  </a:schemeClr>
                </a:solidFill>
              </a:rPr>
              <a:t>Supports nutritional evaluation using available food composition values.</a:t>
            </a:r>
          </a:p>
          <a:p>
            <a:pPr lvl="0"/>
            <a:r>
              <a:rPr lang="en-AE" sz="1400" dirty="0">
                <a:solidFill>
                  <a:schemeClr val="tx1">
                    <a:alpha val="80000"/>
                  </a:schemeClr>
                </a:solidFill>
              </a:rPr>
              <a:t>Used as a reference for food nutrition analysis.</a:t>
            </a:r>
          </a:p>
          <a:p>
            <a:r>
              <a:rPr lang="en-AE" sz="1400" b="1" dirty="0">
                <a:solidFill>
                  <a:schemeClr val="tx1">
                    <a:alpha val="80000"/>
                  </a:schemeClr>
                </a:solidFill>
              </a:rPr>
              <a:t>2. API-Based Data Retrieval</a:t>
            </a:r>
            <a:endParaRPr lang="en-AE" sz="1400" dirty="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AE" sz="1400" dirty="0">
                <a:solidFill>
                  <a:schemeClr val="tx1">
                    <a:alpha val="80000"/>
                  </a:schemeClr>
                </a:solidFill>
              </a:rPr>
              <a:t>Uses an API key to access an external data service.</a:t>
            </a:r>
          </a:p>
          <a:p>
            <a:pPr lvl="0"/>
            <a:r>
              <a:rPr lang="en-AE" sz="1400" dirty="0">
                <a:solidFill>
                  <a:schemeClr val="tx1">
                    <a:alpha val="80000"/>
                  </a:schemeClr>
                </a:solidFill>
              </a:rPr>
              <a:t>Retrieves data supported by the integrated API.</a:t>
            </a:r>
          </a:p>
          <a:p>
            <a:pPr lvl="0"/>
            <a:r>
              <a:rPr lang="en-AE" sz="1400" dirty="0">
                <a:solidFill>
                  <a:schemeClr val="tx1">
                    <a:alpha val="80000"/>
                  </a:schemeClr>
                </a:solidFill>
              </a:rPr>
              <a:t>Supports data retrieval for relevant application features.</a:t>
            </a:r>
          </a:p>
          <a:p>
            <a:r>
              <a:rPr lang="en-AE" sz="1400" b="1" dirty="0">
                <a:solidFill>
                  <a:schemeClr val="tx1">
                    <a:alpha val="80000"/>
                  </a:schemeClr>
                </a:solidFill>
              </a:rPr>
              <a:t>3. Data Processing and Application</a:t>
            </a:r>
            <a:endParaRPr lang="en-AE" sz="1400" dirty="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AE" sz="1400" dirty="0">
                <a:solidFill>
                  <a:schemeClr val="tx1">
                    <a:alpha val="80000"/>
                  </a:schemeClr>
                </a:solidFill>
              </a:rPr>
              <a:t>Processes available nutritional and external data.</a:t>
            </a:r>
          </a:p>
          <a:p>
            <a:pPr lvl="0"/>
            <a:r>
              <a:rPr lang="en-AE" sz="1400" dirty="0">
                <a:solidFill>
                  <a:schemeClr val="tx1">
                    <a:alpha val="80000"/>
                  </a:schemeClr>
                </a:solidFill>
              </a:rPr>
              <a:t>Uses </a:t>
            </a:r>
            <a:r>
              <a:rPr lang="en-AE" sz="1400" dirty="0" err="1">
                <a:solidFill>
                  <a:schemeClr val="tx1">
                    <a:alpha val="80000"/>
                  </a:schemeClr>
                </a:solidFill>
              </a:rPr>
              <a:t>Glycemic</a:t>
            </a:r>
            <a:r>
              <a:rPr lang="en-AE" sz="1400" dirty="0">
                <a:solidFill>
                  <a:schemeClr val="tx1">
                    <a:alpha val="80000"/>
                  </a:schemeClr>
                </a:solidFill>
              </a:rPr>
              <a:t> Load (GL) for meal evaluation when the required inputs are available.</a:t>
            </a:r>
          </a:p>
          <a:p>
            <a:pPr lvl="0"/>
            <a:r>
              <a:rPr lang="en-AE" sz="1400" dirty="0">
                <a:solidFill>
                  <a:schemeClr val="tx1">
                    <a:alpha val="80000"/>
                  </a:schemeClr>
                </a:solidFill>
              </a:rPr>
              <a:t>Applies health filtering and Multi-Criteria Decision Making (MCDM) for meal ranking.</a:t>
            </a:r>
          </a:p>
          <a:p>
            <a:pPr lvl="0"/>
            <a:r>
              <a:rPr lang="en-AE" sz="1400" dirty="0">
                <a:solidFill>
                  <a:schemeClr val="tx1">
                    <a:alpha val="80000"/>
                  </a:schemeClr>
                </a:solidFill>
              </a:rPr>
              <a:t>Generates meal recommendations based on configured health, budget, and distance criteria.</a:t>
            </a:r>
          </a:p>
          <a:p>
            <a:endParaRPr lang="en-AE" sz="14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532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E65D517-46E4-8037-A63D-629DE1253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2DF0F5-0D75-00A9-7493-B82AE483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276198"/>
            <a:ext cx="10477600" cy="1157242"/>
          </a:xfrm>
        </p:spPr>
        <p:txBody>
          <a:bodyPr>
            <a:normAutofit/>
          </a:bodyPr>
          <a:lstStyle/>
          <a:p>
            <a:r>
              <a:rPr lang="en-IN" sz="4000"/>
              <a:t>Existing System vs Proposed System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7FC2AB-390A-A19C-F518-29A7FBF5F7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363178"/>
              </p:ext>
            </p:extLst>
          </p:nvPr>
        </p:nvGraphicFramePr>
        <p:xfrm>
          <a:off x="1272140" y="2122098"/>
          <a:ext cx="9647722" cy="38759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52253">
                  <a:extLst>
                    <a:ext uri="{9D8B030D-6E8A-4147-A177-3AD203B41FA5}">
                      <a16:colId xmlns:a16="http://schemas.microsoft.com/office/drawing/2014/main" val="2487227315"/>
                    </a:ext>
                  </a:extLst>
                </a:gridCol>
                <a:gridCol w="4795469">
                  <a:extLst>
                    <a:ext uri="{9D8B030D-6E8A-4147-A177-3AD203B41FA5}">
                      <a16:colId xmlns:a16="http://schemas.microsoft.com/office/drawing/2014/main" val="1217375996"/>
                    </a:ext>
                  </a:extLst>
                </a:gridCol>
              </a:tblGrid>
              <a:tr h="446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Existing System</a:t>
                      </a:r>
                    </a:p>
                  </a:txBody>
                  <a:tcPr marL="102213" marR="102213" marT="51106" marB="511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Proposed DiaBite.ai</a:t>
                      </a:r>
                    </a:p>
                  </a:txBody>
                  <a:tcPr marL="102213" marR="102213" marT="51106" marB="51106" anchor="ctr"/>
                </a:tc>
                <a:extLst>
                  <a:ext uri="{0D108BD9-81ED-4DB2-BD59-A6C34878D82A}">
                    <a16:rowId xmlns:a16="http://schemas.microsoft.com/office/drawing/2014/main" val="2010023575"/>
                  </a:ext>
                </a:extLst>
              </a:tr>
              <a:tr h="446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Price and rating-based ranking</a:t>
                      </a:r>
                    </a:p>
                  </a:txBody>
                  <a:tcPr marL="102213" marR="102213" marT="51106" marB="511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Health-aware meal ranking</a:t>
                      </a:r>
                    </a:p>
                  </a:txBody>
                  <a:tcPr marL="102213" marR="102213" marT="51106" marB="51106" anchor="ctr"/>
                </a:tc>
                <a:extLst>
                  <a:ext uri="{0D108BD9-81ED-4DB2-BD59-A6C34878D82A}">
                    <a16:rowId xmlns:a16="http://schemas.microsoft.com/office/drawing/2014/main" val="3079915440"/>
                  </a:ext>
                </a:extLst>
              </a:tr>
              <a:tr h="446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General food preferences</a:t>
                      </a:r>
                    </a:p>
                  </a:txBody>
                  <a:tcPr marL="102213" marR="102213" marT="51106" marB="511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Personalized health and dietary profile</a:t>
                      </a:r>
                    </a:p>
                  </a:txBody>
                  <a:tcPr marL="102213" marR="102213" marT="51106" marB="51106" anchor="ctr"/>
                </a:tc>
                <a:extLst>
                  <a:ext uri="{0D108BD9-81ED-4DB2-BD59-A6C34878D82A}">
                    <a16:rowId xmlns:a16="http://schemas.microsoft.com/office/drawing/2014/main" val="1247010138"/>
                  </a:ext>
                </a:extLst>
              </a:tr>
              <a:tr h="446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Limited glycemic consideration</a:t>
                      </a:r>
                    </a:p>
                  </a:txBody>
                  <a:tcPr marL="102213" marR="102213" marT="51106" marB="511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Glycemic Load-based evaluation</a:t>
                      </a:r>
                    </a:p>
                  </a:txBody>
                  <a:tcPr marL="102213" marR="102213" marT="51106" marB="51106" anchor="ctr"/>
                </a:tc>
                <a:extLst>
                  <a:ext uri="{0D108BD9-81ED-4DB2-BD59-A6C34878D82A}">
                    <a16:rowId xmlns:a16="http://schemas.microsoft.com/office/drawing/2014/main" val="3750225609"/>
                  </a:ext>
                </a:extLst>
              </a:tr>
              <a:tr h="753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Separate consideration of price and location</a:t>
                      </a:r>
                    </a:p>
                  </a:txBody>
                  <a:tcPr marL="102213" marR="102213" marT="51106" marB="511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Combined health, budget, and distance criteria</a:t>
                      </a:r>
                    </a:p>
                  </a:txBody>
                  <a:tcPr marL="102213" marR="102213" marT="51106" marB="51106" anchor="ctr"/>
                </a:tc>
                <a:extLst>
                  <a:ext uri="{0D108BD9-81ED-4DB2-BD59-A6C34878D82A}">
                    <a16:rowId xmlns:a16="http://schemas.microsoft.com/office/drawing/2014/main" val="119178060"/>
                  </a:ext>
                </a:extLst>
              </a:tr>
              <a:tr h="446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Limited recommendation explanation</a:t>
                      </a:r>
                    </a:p>
                  </a:txBody>
                  <a:tcPr marL="102213" marR="102213" marT="51106" marB="511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Explainable recommendation scores</a:t>
                      </a:r>
                    </a:p>
                  </a:txBody>
                  <a:tcPr marL="102213" marR="102213" marT="51106" marB="51106" anchor="ctr"/>
                </a:tc>
                <a:extLst>
                  <a:ext uri="{0D108BD9-81ED-4DB2-BD59-A6C34878D82A}">
                    <a16:rowId xmlns:a16="http://schemas.microsoft.com/office/drawing/2014/main" val="1021416037"/>
                  </a:ext>
                </a:extLst>
              </a:tr>
              <a:tr h="446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Standard ordering process</a:t>
                      </a:r>
                    </a:p>
                  </a:txBody>
                  <a:tcPr marL="102213" marR="102213" marT="51106" marB="511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Customized ordering instructions</a:t>
                      </a:r>
                    </a:p>
                  </a:txBody>
                  <a:tcPr marL="102213" marR="102213" marT="51106" marB="51106" anchor="ctr"/>
                </a:tc>
                <a:extLst>
                  <a:ext uri="{0D108BD9-81ED-4DB2-BD59-A6C34878D82A}">
                    <a16:rowId xmlns:a16="http://schemas.microsoft.com/office/drawing/2014/main" val="3585367094"/>
                  </a:ext>
                </a:extLst>
              </a:tr>
              <a:tr h="446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Limited feedback-based personalization</a:t>
                      </a:r>
                    </a:p>
                  </a:txBody>
                  <a:tcPr marL="102213" marR="102213" marT="51106" marB="511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Post-meal glucose feedback</a:t>
                      </a:r>
                    </a:p>
                  </a:txBody>
                  <a:tcPr marL="102213" marR="102213" marT="51106" marB="51106" anchor="ctr"/>
                </a:tc>
                <a:extLst>
                  <a:ext uri="{0D108BD9-81ED-4DB2-BD59-A6C34878D82A}">
                    <a16:rowId xmlns:a16="http://schemas.microsoft.com/office/drawing/2014/main" val="2434912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5642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027A94-F622-8573-C4EF-310B13364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chemeClr val="tx2"/>
                </a:solidFill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A17CB-F131-0BD6-0F4A-41E6E3024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IN" sz="1400" dirty="0">
                <a:solidFill>
                  <a:schemeClr val="tx2"/>
                </a:solidFill>
              </a:rPr>
              <a:t>DiaBite.ai integrates patient information, food nutrition, and restaurant data to recommend suitable meals.</a:t>
            </a:r>
          </a:p>
          <a:p>
            <a:pPr lvl="0"/>
            <a:r>
              <a:rPr lang="en-IN" sz="1400" dirty="0">
                <a:solidFill>
                  <a:schemeClr val="tx2"/>
                </a:solidFill>
              </a:rPr>
              <a:t>Patient data: Diabetes type, BMI, HbA1c, dietary preferences, allergies, budget, and location.</a:t>
            </a:r>
          </a:p>
          <a:p>
            <a:pPr lvl="0"/>
            <a:r>
              <a:rPr lang="en-IN" sz="1400" dirty="0">
                <a:solidFill>
                  <a:schemeClr val="tx2"/>
                </a:solidFill>
              </a:rPr>
              <a:t>Food data: Calories, carbohydrates, protein, fat, </a:t>
            </a:r>
            <a:r>
              <a:rPr lang="en-IN" sz="1400" dirty="0" err="1">
                <a:solidFill>
                  <a:schemeClr val="tx2"/>
                </a:solidFill>
              </a:rPr>
              <a:t>fiber</a:t>
            </a:r>
            <a:r>
              <a:rPr lang="en-IN" sz="1400" dirty="0">
                <a:solidFill>
                  <a:schemeClr val="tx2"/>
                </a:solidFill>
              </a:rPr>
              <a:t>, and </a:t>
            </a:r>
            <a:r>
              <a:rPr lang="en-IN" sz="1400" dirty="0" err="1">
                <a:solidFill>
                  <a:schemeClr val="tx2"/>
                </a:solidFill>
              </a:rPr>
              <a:t>Glycemic</a:t>
            </a:r>
            <a:r>
              <a:rPr lang="en-IN" sz="1400" dirty="0">
                <a:solidFill>
                  <a:schemeClr val="tx2"/>
                </a:solidFill>
              </a:rPr>
              <a:t> Index.</a:t>
            </a:r>
          </a:p>
          <a:p>
            <a:pPr lvl="0"/>
            <a:r>
              <a:rPr lang="en-IN" sz="1400" dirty="0">
                <a:solidFill>
                  <a:schemeClr val="tx2"/>
                </a:solidFill>
              </a:rPr>
              <a:t>Restaurant data: Dish availability, price, latitude, and longitude.</a:t>
            </a:r>
          </a:p>
          <a:p>
            <a:pPr lvl="0"/>
            <a:r>
              <a:rPr lang="en-IN" sz="1400" dirty="0">
                <a:solidFill>
                  <a:schemeClr val="tx2"/>
                </a:solidFill>
              </a:rPr>
              <a:t>Health filtering: Removes meals that do not satisfy specified constraints.</a:t>
            </a:r>
          </a:p>
          <a:p>
            <a:pPr lvl="0"/>
            <a:r>
              <a:rPr lang="en-IN" sz="1400" dirty="0">
                <a:solidFill>
                  <a:schemeClr val="tx2"/>
                </a:solidFill>
              </a:rPr>
              <a:t>MCDM ranking: Combines normalized health, budget, distance, and other configured criteria.</a:t>
            </a:r>
          </a:p>
          <a:p>
            <a:pPr lvl="0"/>
            <a:r>
              <a:rPr lang="en-IN" sz="1400" dirty="0">
                <a:solidFill>
                  <a:schemeClr val="tx2"/>
                </a:solidFill>
              </a:rPr>
              <a:t>Output: Ranked meals, explanations, ordering instructions, and feedback recording.</a:t>
            </a:r>
          </a:p>
          <a:p>
            <a:endParaRPr lang="en-IN" sz="14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Person Eating">
            <a:extLst>
              <a:ext uri="{FF2B5EF4-FFF2-40B4-BE49-F238E27FC236}">
                <a16:creationId xmlns:a16="http://schemas.microsoft.com/office/drawing/2014/main" id="{5F65B384-95F4-6321-4B5A-47BE28F640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89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BA45D4-6A72-209F-B45F-BB96109F47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1277" y="312174"/>
            <a:ext cx="10953136" cy="623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719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61D682-2FF2-2296-AC54-AAD52FF00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IN" sz="6200">
                <a:solidFill>
                  <a:srgbClr val="FFFFFF"/>
                </a:solidFill>
              </a:rPr>
              <a:t>Glycemic Load (GL) Calculation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D1262-3228-C655-926A-EDE7534A5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IN" sz="1400" b="1" dirty="0" err="1">
                <a:solidFill>
                  <a:schemeClr val="tx1">
                    <a:alpha val="80000"/>
                  </a:schemeClr>
                </a:solidFill>
              </a:rPr>
              <a:t>Glycemic</a:t>
            </a:r>
            <a:r>
              <a:rPr lang="en-IN" sz="1400" b="1" dirty="0">
                <a:solidFill>
                  <a:schemeClr val="tx1">
                    <a:alpha val="80000"/>
                  </a:schemeClr>
                </a:solidFill>
              </a:rPr>
              <a:t> Index (GI):</a:t>
            </a:r>
            <a:endParaRPr lang="en-IN" sz="1400" dirty="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400" dirty="0">
                <a:solidFill>
                  <a:schemeClr val="tx1">
                    <a:alpha val="80000"/>
                  </a:schemeClr>
                </a:solidFill>
              </a:rPr>
              <a:t>Indicates the relative effect of carbohydrate-containing food on blood glucose.</a:t>
            </a:r>
          </a:p>
          <a:p>
            <a:pPr lvl="0"/>
            <a:r>
              <a:rPr lang="en-IN" sz="1400" dirty="0">
                <a:solidFill>
                  <a:schemeClr val="tx1">
                    <a:alpha val="80000"/>
                  </a:schemeClr>
                </a:solidFill>
              </a:rPr>
              <a:t>GI alone does not consider the amount of carbohydrates consumed.</a:t>
            </a:r>
          </a:p>
          <a:p>
            <a:r>
              <a:rPr lang="en-IN" sz="1400" b="1" dirty="0" err="1">
                <a:solidFill>
                  <a:schemeClr val="tx1">
                    <a:alpha val="80000"/>
                  </a:schemeClr>
                </a:solidFill>
              </a:rPr>
              <a:t>Glycemic</a:t>
            </a:r>
            <a:r>
              <a:rPr lang="en-IN" sz="1400" b="1" dirty="0">
                <a:solidFill>
                  <a:schemeClr val="tx1">
                    <a:alpha val="80000"/>
                  </a:schemeClr>
                </a:solidFill>
              </a:rPr>
              <a:t> Load (GL):</a:t>
            </a:r>
            <a:endParaRPr lang="en-IN" sz="1400" dirty="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400" dirty="0">
                <a:solidFill>
                  <a:schemeClr val="tx1">
                    <a:alpha val="80000"/>
                  </a:schemeClr>
                </a:solidFill>
              </a:rPr>
              <a:t>Considers both </a:t>
            </a:r>
            <a:r>
              <a:rPr lang="en-IN" sz="1400" dirty="0" err="1">
                <a:solidFill>
                  <a:schemeClr val="tx1">
                    <a:alpha val="80000"/>
                  </a:schemeClr>
                </a:solidFill>
              </a:rPr>
              <a:t>Glycemic</a:t>
            </a:r>
            <a:r>
              <a:rPr lang="en-IN" sz="1400" dirty="0">
                <a:solidFill>
                  <a:schemeClr val="tx1">
                    <a:alpha val="80000"/>
                  </a:schemeClr>
                </a:solidFill>
              </a:rPr>
              <a:t> Index and available carbohydrates per serving.</a:t>
            </a:r>
          </a:p>
          <a:p>
            <a:pPr lvl="0"/>
            <a:r>
              <a:rPr lang="en-IN" sz="1400" dirty="0">
                <a:solidFill>
                  <a:schemeClr val="tx1">
                    <a:alpha val="80000"/>
                  </a:schemeClr>
                </a:solidFill>
              </a:rPr>
              <a:t>Helps evaluate meals for diabetic food recommendations.</a:t>
            </a:r>
          </a:p>
          <a:p>
            <a:r>
              <a:rPr lang="en-IN" sz="1400" b="1" dirty="0">
                <a:solidFill>
                  <a:schemeClr val="tx1">
                    <a:alpha val="80000"/>
                  </a:schemeClr>
                </a:solidFill>
              </a:rPr>
              <a:t>Formula:</a:t>
            </a:r>
            <a:endParaRPr lang="en-IN" sz="14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IN" sz="1400" dirty="0">
                <a:solidFill>
                  <a:schemeClr val="tx1">
                    <a:alpha val="80000"/>
                  </a:schemeClr>
                </a:solidFill>
              </a:rPr>
              <a:t>GL = (GI × Available Carbohydrate (g)) / 100</a:t>
            </a:r>
          </a:p>
          <a:p>
            <a:r>
              <a:rPr lang="en-IN" sz="1400" b="1" dirty="0">
                <a:solidFill>
                  <a:schemeClr val="tx1">
                    <a:alpha val="80000"/>
                  </a:schemeClr>
                </a:solidFill>
              </a:rPr>
              <a:t>Example:</a:t>
            </a:r>
            <a:endParaRPr lang="en-IN" sz="1400" dirty="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400" dirty="0">
                <a:solidFill>
                  <a:schemeClr val="tx1">
                    <a:alpha val="80000"/>
                  </a:schemeClr>
                </a:solidFill>
              </a:rPr>
              <a:t>GI = 50</a:t>
            </a:r>
          </a:p>
          <a:p>
            <a:pPr lvl="0"/>
            <a:r>
              <a:rPr lang="en-IN" sz="1400" dirty="0">
                <a:solidFill>
                  <a:schemeClr val="tx1">
                    <a:alpha val="80000"/>
                  </a:schemeClr>
                </a:solidFill>
              </a:rPr>
              <a:t>Available Carbohydrate = 20 g</a:t>
            </a:r>
          </a:p>
          <a:p>
            <a:r>
              <a:rPr lang="en-IN" sz="1400" dirty="0">
                <a:solidFill>
                  <a:schemeClr val="tx1">
                    <a:alpha val="80000"/>
                  </a:schemeClr>
                </a:solidFill>
              </a:rPr>
              <a:t>GL = (50 × 20) / 100 = </a:t>
            </a:r>
            <a:r>
              <a:rPr lang="en-IN" sz="1400" b="1" dirty="0">
                <a:solidFill>
                  <a:schemeClr val="tx1">
                    <a:alpha val="80000"/>
                  </a:schemeClr>
                </a:solidFill>
              </a:rPr>
              <a:t>10</a:t>
            </a:r>
            <a:endParaRPr lang="en-IN" sz="14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IN" sz="1400" b="1" dirty="0">
                <a:solidFill>
                  <a:schemeClr val="tx1">
                    <a:alpha val="80000"/>
                  </a:schemeClr>
                </a:solidFill>
              </a:rPr>
              <a:t>Key Point:</a:t>
            </a:r>
            <a:r>
              <a:rPr lang="en-IN" sz="1400" dirty="0">
                <a:solidFill>
                  <a:schemeClr val="tx1">
                    <a:alpha val="80000"/>
                  </a:schemeClr>
                </a:solidFill>
              </a:rPr>
              <a:t> DiaBite.ai uses GL as one of its health-related criteria when comparing meals. A lower GL indicates lower expected </a:t>
            </a:r>
            <a:r>
              <a:rPr lang="en-IN" sz="1400" dirty="0" err="1">
                <a:solidFill>
                  <a:schemeClr val="tx1">
                    <a:alpha val="80000"/>
                  </a:schemeClr>
                </a:solidFill>
              </a:rPr>
              <a:t>glycemic</a:t>
            </a:r>
            <a:r>
              <a:rPr lang="en-IN" sz="1400" dirty="0">
                <a:solidFill>
                  <a:schemeClr val="tx1">
                    <a:alpha val="80000"/>
                  </a:schemeClr>
                </a:solidFill>
              </a:rPr>
              <a:t> impact, all else being equal.</a:t>
            </a:r>
          </a:p>
          <a:p>
            <a:endParaRPr lang="en-IN" sz="14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937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CD359E-E644-FCF7-5AEB-328E1099C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IN" sz="5600">
                <a:solidFill>
                  <a:srgbClr val="FFFFFF"/>
                </a:solidFill>
              </a:rPr>
              <a:t>MCDM and Weighted Sum Model (WSM)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4B4BE-1C4B-3CCE-2B8F-82F3CA742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Multi-Criteria Decision Making (MCDM):</a:t>
            </a:r>
            <a:endParaRPr lang="en-IN" sz="24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AE" sz="2400" b="1" dirty="0"/>
              <a:t>AHP (Analytic Hierarchy Process) and WSM</a:t>
            </a:r>
          </a:p>
          <a:p>
            <a:pPr lvl="0"/>
            <a:r>
              <a:rPr lang="en-AE" sz="2400" b="1" dirty="0"/>
              <a:t>AHP:</a:t>
            </a:r>
            <a:r>
              <a:rPr lang="en-AE" sz="2400" dirty="0"/>
              <a:t> Determines the importance of each criterion.</a:t>
            </a:r>
          </a:p>
          <a:p>
            <a:pPr lvl="0"/>
            <a:r>
              <a:rPr lang="en-AE" sz="2400" b="1" dirty="0"/>
              <a:t>Criteria:</a:t>
            </a:r>
            <a:r>
              <a:rPr lang="en-AE" sz="2400" dirty="0"/>
              <a:t> Health, </a:t>
            </a:r>
            <a:r>
              <a:rPr lang="en-AE" sz="2400" dirty="0" err="1"/>
              <a:t>Glycemic</a:t>
            </a:r>
            <a:r>
              <a:rPr lang="en-AE" sz="2400" dirty="0"/>
              <a:t> Load (GL), Budget, and Distance.</a:t>
            </a:r>
          </a:p>
          <a:p>
            <a:pPr lvl="0"/>
            <a:r>
              <a:rPr lang="en-AE" sz="2400" b="1" dirty="0"/>
              <a:t>WSM:</a:t>
            </a:r>
            <a:r>
              <a:rPr lang="en-AE" sz="2400" dirty="0"/>
              <a:t> Calculates scores and ranks suitable meals.</a:t>
            </a:r>
          </a:p>
          <a:p>
            <a:r>
              <a:rPr lang="en-AE" sz="2400" b="1" dirty="0"/>
              <a:t>Formula:</a:t>
            </a:r>
            <a:r>
              <a:rPr lang="en-AE" sz="2400" dirty="0"/>
              <a:t> Score = Σ (Weight × Normalized Score)</a:t>
            </a:r>
          </a:p>
          <a:p>
            <a:pPr lvl="0"/>
            <a:r>
              <a:rPr lang="en-AE" sz="2400" dirty="0"/>
              <a:t>Health &amp; </a:t>
            </a:r>
            <a:r>
              <a:rPr lang="en-AE" sz="2400" dirty="0" err="1"/>
              <a:t>Glycemic</a:t>
            </a:r>
            <a:r>
              <a:rPr lang="en-AE" sz="2400" dirty="0"/>
              <a:t> Load (GL): Highest importance</a:t>
            </a:r>
          </a:p>
          <a:p>
            <a:pPr lvl="0"/>
            <a:r>
              <a:rPr lang="en-AE" sz="2400" dirty="0"/>
              <a:t>Budget: Moderate importance</a:t>
            </a:r>
          </a:p>
          <a:p>
            <a:pPr lvl="0"/>
            <a:r>
              <a:rPr lang="en-AE" sz="2400" dirty="0"/>
              <a:t>Restaurant Distance: Lower importance</a:t>
            </a:r>
          </a:p>
          <a:p>
            <a:endParaRPr lang="en-IN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405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4134B-F4FC-577A-EA9B-136B4F830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IN" sz="8000" dirty="0">
                <a:solidFill>
                  <a:srgbClr val="FFFFFF"/>
                </a:solidFill>
              </a:rPr>
              <a:t>System Feature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41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452CB-9781-D763-3B8E-86EFC4C57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tx1">
                    <a:alpha val="80000"/>
                  </a:schemeClr>
                </a:solidFill>
              </a:rPr>
              <a:t>1. Personalized Recommendations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alpha val="80000"/>
                  </a:schemeClr>
                </a:solidFill>
              </a:rPr>
              <a:t>Suggests meals based on user health information, dietary preferences, and budget.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tx1">
                    <a:alpha val="80000"/>
                  </a:schemeClr>
                </a:solidFill>
              </a:rPr>
              <a:t>2. Explainable Recommendations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alpha val="80000"/>
                  </a:schemeClr>
                </a:solidFill>
              </a:rPr>
              <a:t>Shows meal scores, price, GL, distance, and the main reasons behind the ranking.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tx1">
                    <a:alpha val="80000"/>
                  </a:schemeClr>
                </a:solidFill>
              </a:rPr>
              <a:t>3. Smart Ordering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alpha val="80000"/>
                  </a:schemeClr>
                </a:solidFill>
              </a:rPr>
              <a:t>Provides Zomato and Swiggy searches, Google Maps, and customized preparation instructions.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tx1">
                    <a:alpha val="80000"/>
                  </a:schemeClr>
                </a:solidFill>
              </a:rPr>
              <a:t>4. Glucose Feedback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alpha val="80000"/>
                  </a:schemeClr>
                </a:solidFill>
              </a:rPr>
              <a:t>Records meal feedback and post-meal glucose readings to support future personalization.</a:t>
            </a:r>
          </a:p>
          <a:p>
            <a:endParaRPr lang="en-IN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836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3719CD-944A-D4EF-5F19-72E7A16A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N" dirty="0"/>
              <a:t>Novelty and Research Contribution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6AF569-0520-F551-63B8-39CAFBA5F0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8703911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3112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40E93D9-F13F-4097-A159-E0A6CEBA8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B47C6A-134D-1C08-9318-8C29055D6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16" y="444464"/>
            <a:ext cx="3420305" cy="1906317"/>
          </a:xfrm>
        </p:spPr>
        <p:txBody>
          <a:bodyPr>
            <a:normAutofit/>
          </a:bodyPr>
          <a:lstStyle/>
          <a:p>
            <a:pPr algn="ctr"/>
            <a:r>
              <a:rPr lang="en-IN" sz="2800" dirty="0"/>
              <a:t>Limitations and Future Scope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3F44B-9570-E93A-94BB-7CD4074D32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96" r="31553" b="-3"/>
          <a:stretch>
            <a:fillRect/>
          </a:stretch>
        </p:blipFill>
        <p:spPr>
          <a:xfrm>
            <a:off x="20" y="2768743"/>
            <a:ext cx="4278264" cy="408925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A3D150B-ADB5-401D-8304-C7845A109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4310288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B69C9-91E6-9E6F-9F5A-87462F738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1646" y="678955"/>
            <a:ext cx="5586448" cy="540974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600" b="1" dirty="0"/>
              <a:t>Limitations</a:t>
            </a:r>
          </a:p>
          <a:p>
            <a:pPr lvl="0"/>
            <a:r>
              <a:rPr lang="en-IN" sz="1600" dirty="0"/>
              <a:t>Restaurant-specific nutrition data may be unavailable; estimates may be required.</a:t>
            </a:r>
          </a:p>
          <a:p>
            <a:pPr lvl="0"/>
            <a:r>
              <a:rPr lang="en-IN" sz="1600" dirty="0"/>
              <a:t>Menu items, prices, and availability can change.</a:t>
            </a:r>
          </a:p>
          <a:p>
            <a:pPr lvl="0"/>
            <a:r>
              <a:rPr lang="en-IN" sz="1600" dirty="0"/>
              <a:t>Manual glucose feedback may contain errors.</a:t>
            </a:r>
          </a:p>
          <a:p>
            <a:pPr lvl="0"/>
            <a:r>
              <a:rPr lang="en-IN" sz="1600" dirty="0"/>
              <a:t>The system does not replace professional medical or dietary advice.</a:t>
            </a:r>
          </a:p>
          <a:p>
            <a:pPr marL="0" indent="0">
              <a:buNone/>
            </a:pPr>
            <a:r>
              <a:rPr lang="en-IN" sz="1600" b="1" dirty="0"/>
              <a:t>Future Scope</a:t>
            </a:r>
          </a:p>
          <a:p>
            <a:pPr lvl="0"/>
            <a:r>
              <a:rPr lang="en-IN" sz="1600" dirty="0"/>
              <a:t>Integrate Continuous Glucose Monitoring (CGM) devices.</a:t>
            </a:r>
          </a:p>
          <a:p>
            <a:pPr lvl="0"/>
            <a:r>
              <a:rPr lang="en-IN" sz="1600" dirty="0"/>
              <a:t>Connect directly with restaurant and food-delivery APIs.</a:t>
            </a:r>
          </a:p>
          <a:p>
            <a:pPr lvl="0"/>
            <a:r>
              <a:rPr lang="en-IN" sz="1600" dirty="0"/>
              <a:t>Synchronize restaurant menus and prices automatically.</a:t>
            </a:r>
          </a:p>
          <a:p>
            <a:pPr lvl="0"/>
            <a:r>
              <a:rPr lang="en-IN" sz="1600" dirty="0"/>
              <a:t>Use computer vision for food and portion-size estimation.</a:t>
            </a:r>
          </a:p>
          <a:p>
            <a:pPr lvl="0"/>
            <a:r>
              <a:rPr lang="en-IN" sz="1600" dirty="0"/>
              <a:t>Conduct clinical validation with diabetic users.</a:t>
            </a:r>
          </a:p>
          <a:p>
            <a:endParaRPr lang="en-IN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5909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714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6963A2-76FA-38EF-9EC9-79C79537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IN" dirty="0"/>
              <a:t>Conclusion</a:t>
            </a:r>
          </a:p>
        </p:txBody>
      </p:sp>
      <p:pic>
        <p:nvPicPr>
          <p:cNvPr id="5" name="Picture 4" descr="A row of samples for medical testing">
            <a:extLst>
              <a:ext uri="{FF2B5EF4-FFF2-40B4-BE49-F238E27FC236}">
                <a16:creationId xmlns:a16="http://schemas.microsoft.com/office/drawing/2014/main" id="{0337E8DD-6939-223C-1331-B5B00F827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08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D373F-F7C4-5E64-3701-050035A8D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lvl="0"/>
            <a:r>
              <a:rPr lang="en-IN" sz="1700" dirty="0"/>
              <a:t>DiaBite.ai proposes a context-aware food recommendation system for diabetic users.</a:t>
            </a:r>
          </a:p>
          <a:p>
            <a:pPr lvl="0"/>
            <a:r>
              <a:rPr lang="en-IN" sz="1700" dirty="0"/>
              <a:t>It combines patient profiles, nutritional information, </a:t>
            </a:r>
            <a:r>
              <a:rPr lang="en-IN" sz="1700" dirty="0" err="1"/>
              <a:t>Glycemic</a:t>
            </a:r>
            <a:r>
              <a:rPr lang="en-IN" sz="1700" dirty="0"/>
              <a:t> Load, budget, and restaurant distance.</a:t>
            </a:r>
          </a:p>
          <a:p>
            <a:pPr lvl="0"/>
            <a:r>
              <a:rPr lang="en-IN" sz="1700" dirty="0"/>
              <a:t>Health filtering removes unsuitable meals before the ranking stage.</a:t>
            </a:r>
          </a:p>
          <a:p>
            <a:pPr lvl="0"/>
            <a:r>
              <a:rPr lang="en-IN" sz="1700" dirty="0"/>
              <a:t>The Weighted Sum Model combines normalized criteria to generate recommendation scores.</a:t>
            </a:r>
          </a:p>
          <a:p>
            <a:pPr lvl="0"/>
            <a:r>
              <a:rPr lang="en-IN" sz="1700" dirty="0"/>
              <a:t>Explainable results, smart ordering, and post-meal feedback support a more personalized food selection process.</a:t>
            </a:r>
          </a:p>
          <a:p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4120994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016232-C068-EEC2-B04F-53DCE1362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>
            <a:normAutofit/>
          </a:bodyPr>
          <a:lstStyle/>
          <a:p>
            <a:r>
              <a:rPr lang="en-IN" sz="4800"/>
              <a:t>References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A835E-C00F-5247-C627-4018A172F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>
            <a:normAutofit/>
          </a:bodyPr>
          <a:lstStyle/>
          <a:p>
            <a:pPr lvl="0"/>
            <a:r>
              <a:rPr lang="en-IN" sz="1500"/>
              <a:t>Yera et al. (2023) – A Systematic Review on Food Recommender Systems for Diabetic Patients.</a:t>
            </a:r>
          </a:p>
          <a:p>
            <a:pPr lvl="0"/>
            <a:r>
              <a:rPr lang="en-IN" sz="1500"/>
              <a:t>Ahmed et al. (2025) – Diabetes-focused Food Recommender System (DFRS) to Enabling Digital Health.</a:t>
            </a:r>
          </a:p>
          <a:p>
            <a:pPr lvl="0"/>
            <a:r>
              <a:rPr lang="en-IN" sz="1500"/>
              <a:t>Aldaghi and Muzik (2024) – Multicriteria Decision-Making in Diabetes Management and Decision Support: Systematic Review.</a:t>
            </a:r>
          </a:p>
          <a:p>
            <a:pPr lvl="0"/>
            <a:r>
              <a:rPr lang="en-IN" sz="1500"/>
              <a:t>Rein et al. (2022) – Effects of Personalized Diets by Prediction of Glycemic Responses on Glycemic Control and Metabolic Health.</a:t>
            </a:r>
          </a:p>
          <a:p>
            <a:pPr lvl="0"/>
            <a:r>
              <a:rPr lang="en-IN" sz="1500"/>
              <a:t>Indian Council of Medical Research – National Institute of Nutrition, Indian Food Composition Tables.</a:t>
            </a:r>
          </a:p>
          <a:p>
            <a:pPr lvl="0"/>
            <a:r>
              <a:rPr lang="en-IN" sz="1500"/>
              <a:t>Atkinson, Foster-Powell and Brand-Miller (2008) – International Tables of Glycemic Index and Glycemic Load Values.</a:t>
            </a:r>
          </a:p>
          <a:p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887445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10466</TotalTime>
  <Words>1226</Words>
  <Application>Microsoft Office PowerPoint</Application>
  <PresentationFormat>Widescreen</PresentationFormat>
  <Paragraphs>129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DiaBite.ai A Context-Aware Diabetic Food Recommendation and Smart Ordering System </vt:lpstr>
      <vt:lpstr>Introduction</vt:lpstr>
      <vt:lpstr>Problem Statement</vt:lpstr>
      <vt:lpstr>Objectives</vt:lpstr>
      <vt:lpstr>Dataset and Data Sources </vt:lpstr>
      <vt:lpstr>Existing System vs Proposed System</vt:lpstr>
      <vt:lpstr>Proposed System</vt:lpstr>
      <vt:lpstr>PowerPoint Presentation</vt:lpstr>
      <vt:lpstr>Glycemic Load (GL) Calculation</vt:lpstr>
      <vt:lpstr>MCDM and Weighted Sum Model (WSM)</vt:lpstr>
      <vt:lpstr>System Feature</vt:lpstr>
      <vt:lpstr>Novelty and Research Contribution</vt:lpstr>
      <vt:lpstr>Limitations and Future Scope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Kasetty Narasimha Purna</dc:creator>
  <cp:lastModifiedBy>Vallurupalli Manoghna</cp:lastModifiedBy>
  <cp:revision>3</cp:revision>
  <dcterms:created xsi:type="dcterms:W3CDTF">2026-10-13T02:10:56Z</dcterms:created>
  <dcterms:modified xsi:type="dcterms:W3CDTF">2026-10-28T13:16:34Z</dcterms:modified>
</cp:coreProperties>
</file>